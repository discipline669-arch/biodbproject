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29F05"/>
                </a:solidFill>
                <a:latin typeface="Calibri"/>
              </a:rPr>
              <a:t>CROSS-DATASET TRANSCRIPTOMICS · MACHINE LEARNING · CANDIDATE BIOMARKERS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Cross-Cohort Transcriptomic Signatures of Osimertinib Resistance in EGFR-Mutant NSCLC Cell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B9D2DC"/>
                </a:solidFill>
                <a:latin typeface="Calibri"/>
              </a:rPr>
              <a:t>A leakage-controlled bulk RNA-seq + machine-learning study — discovery GSE202859 (-OR) and validation GSE193258 (DTP)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63440"/>
            <a:ext cx="2606040" cy="969264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36592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0368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GEO cohorts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4663440"/>
            <a:ext cx="2606040" cy="969264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736592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5230368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labelled 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4663440"/>
            <a:ext cx="2606040" cy="969264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736592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1,112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5230368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consistent-gene signature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4663440"/>
            <a:ext cx="2606040" cy="969264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7" y="4736592"/>
            <a:ext cx="2386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5230368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external ROC-AUC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FACBC"/>
                </a:solidFill>
                <a:latin typeface="Calibri"/>
              </a:rPr>
              <a:t>Data: two AstraZeneca/Yale GEO cell-line studies · NCBI-uniform counts (HISAT2 + featureCounts, GRCh38.p13)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One paragraph, every number traceable to a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6949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Osimertinib resistance in EGFR-mutant NSCLC is driven largely by NON-GENETIC chromatin/persister states — motivating a transcriptomic framing.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Two harmonised GEO cohorts profile the SAME three cell lines (PC9, H1975, HCC827): discovery (parental vs chronic -OR) and independent validation (DMSO vs 3-week DTP), 9 vs 9 each.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DESeq2 with ~ cell_line + condition on uniformly reprocessed NCBI counts yielded 2,785 and 4,852 significant DEGs; 1,112 are shared with the SAME direction → the validated signature.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Biology: migration / ECM / cytoskeleton / developmental programs UP; ribosome, spliceosome, translation DOWN (NES up to -6.9) — a hypoproliferative persister phenotype.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Pre-registered classifier (LogReg, K=50, selection+tuning inside folds, gated by cell line) transfers one-shot to the validation cohort: ROC-AUC 1.000 (CI 1.000-1.000), sensitivity 1.000.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1E2A33"/>
                </a:solidFill>
                <a:latin typeface="Calibri"/>
              </a:rPr>
              <a:t>▪ A 100-gene stability+selection+SHAP panel and a drug-withdrawal probe (P(Resistant): DTP 0.80 → 10-day washout 0.30) argue for state-like, partially reversible resistance.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371600"/>
            <a:ext cx="3977639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7" y="1444752"/>
            <a:ext cx="375818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1,112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1938528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consistent-gene 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2578608"/>
            <a:ext cx="3977639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7" y="2651760"/>
            <a:ext cx="375818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3145536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of shared DEGs concordant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3785616"/>
            <a:ext cx="3977639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3858768"/>
            <a:ext cx="375818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4352544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candidate biomarker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4992624"/>
            <a:ext cx="3977639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7" y="5065776"/>
            <a:ext cx="375818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Rho 0.70-0.86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5559552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Python GSEA vs fgsea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23697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E2A33"/>
                </a:solidFill>
                <a:latin typeface="Calibri"/>
              </a:rPr>
              <a:t>▪ Osimertinib = first-line, covalent 3rd-generation EGFR-TKI; response is deep but progression eventually occurs in essentially all patients.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E2A33"/>
                </a:solidFill>
                <a:latin typeface="Calibri"/>
              </a:rPr>
              <a:t>▪ Progression is frequently NON-genetic: no new driver mutation — instead chromatin/state shifts (mSWI/SNF remodeling, drug-tolerant persisters, lineage plasticity).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E2A33"/>
                </a:solidFill>
                <a:latin typeface="Calibri"/>
              </a:rPr>
              <a:t>▪ Single-cohort transcriptomics overfits dataset-specific artefacts; cross-dataset reproducibility requires identical sequencing-style counts, matched cell lines and honest ML.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E2A33"/>
                </a:solidFill>
                <a:latin typeface="Calibri"/>
              </a:rPr>
              <a:t>▪ Cell-line systems give clean labels and controlled endpoints; the price is that conclusions stay exploratory — baked into the claim discipline.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34440"/>
            <a:ext cx="4599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783080"/>
            <a:ext cx="4160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Estimate per-cohort DEGs with genotype (cell line) as a blocking covariate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Define a cross-dataset consistent resistance signature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Characterise it with ORA + GSEA (two engines, concordance-checked)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One-shot external validation under a pre-registered primary config, with bootstrap CIs on every metric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Rank a candidate biomarker panel and probe reversibility on an excluded drug-withdrawal 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B77"/>
                </a:solidFill>
                <a:latin typeface="Calibri"/>
              </a:rPr>
              <a:t>Design principle: every decision pre-registered in docs/decisions.md (D1-D14) BEFORE the external cohort was touched.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78561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Three anchors from the resistance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675887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75887" cy="12801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3383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de Miguel et al. 2023 — Cancer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23160"/>
            <a:ext cx="33649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Discovery cohort's primary paper (GSE202859).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mSWI/SNF (SMARCA4/A2) chromatin remodelling PROPS osimertinib resistance: EMT, epithelial differentiation, NRF2 oxidative-stress programs.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SMARCA4/2 ATPase inhibition re-sensitises resistant models — resistance is state-like, not purely mutational.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371600"/>
            <a:ext cx="3675887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71600"/>
            <a:ext cx="3675887" cy="128016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627632"/>
            <a:ext cx="3383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Criscione et al. 2022 — npj Precision Oncology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23160"/>
            <a:ext cx="33649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Validation cohort's primary paper (GSE193258).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RNA/ATAC/ChIP landscape of 21-day DTP states in the same line panel.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DTPs are transcriptionally distinct from cell-cycle shutdown; vulnerabilities flagged: MEK, TEAD, AURKB, BRD4.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5" y="1371600"/>
            <a:ext cx="3675887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5" y="1371600"/>
            <a:ext cx="3675887" cy="12801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1627632"/>
            <a:ext cx="3383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Blaquier et al. 2023 — Clin Cancer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2423160"/>
            <a:ext cx="33649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Review of the clinical resistance landscape: genetic (C797S, MET amp, bypass) vs non-genetic histologies.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1E2A33"/>
                </a:solidFill>
                <a:latin typeface="Calibri"/>
              </a:rPr>
              <a:t>▪ Frames why pan-transcriptomic, cross-model signatures matter for combination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78561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The four method tricks this pipeline leans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201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" cy="10789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DESeq2 multi-factor design  (Love 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Negative-binomial GLM: condition effect estimated on all 18 samples while ~ cell_line swallows the 3-line genetic background.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96896"/>
            <a:ext cx="11201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96896"/>
            <a:ext cx="91440" cy="10789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ORA with an EXPLICIT universe  (Kuleshov 2016; Reactome/KEGG/GO)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5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Hypergeometric needs a denominator; we use all genes in the gene-set source (D10) — conservative fold-enrichments, honestly logged.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22191"/>
            <a:ext cx="11201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22191"/>
            <a:ext cx="91440" cy="10789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Pre-ranked GSEA + exact fgsea  (Subramanian 2005; Korotkevich 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2511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Whole-transcriptome ranking avoids DEG-list dichotomisation; Python permutation-null engine cross-checked by R fgsea multilevel engine.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47488"/>
            <a:ext cx="11201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47488"/>
            <a:ext cx="91440" cy="1078992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57216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Group-aware nested CV + one-shot external lock  (Varma &amp; Simon 2006)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7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Split by cell line; tune/select only inside training folds; pre-register the primary configuration BEFORE seeing the validation cohort.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127248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Cohort pairing — the reason this design is strong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53712"/>
                <a:gridCol w="454456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Discovery — GSE202859</a:t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Validation — GSE193258</a:t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Parental vs chronically-dosed -OR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DMSO vs 3-week osimertinib DTP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Sample size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18  (9 Sensitive / 9 Resistant)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18  (9 Sensitive / 9 Resistant)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Shared lines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PC9 · H1975 · HCC827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PC9 · H1975 · HCC827 (+HCC2935 excluded)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Counts source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NCBI uniform (GRCh38.p13, Entrez)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NCBI uniform (same pipeline)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NovaSeq 6000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HiSeq 4000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Excluded by policy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34 (acute 24 h, SMARCA4 shRNA)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42 (acute + washout arm, HCC2935)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Primary paper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de Miguel 2023 · PMID 37541244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Calibri"/>
                        </a:rPr>
                        <a:t>Criscione 2022 · PMID 36575215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201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A6B77"/>
                </a:solidFill>
                <a:latin typeface="Calibri"/>
              </a:rPr>
              <a:t>Label policy: keep only clean endpoints (parental/DMSO = Sensitive; -OR/osi_DTP = Resistant). Every excluded sample keeps an explicit reason in coldata_all.csv.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57800"/>
            <a:ext cx="11201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E2A33"/>
                </a:solidFill>
                <a:latin typeface="Calibri"/>
              </a:rPr>
              <a:t>Why it works: identical NCBI processing removes alignment/annotation batch; SAME cell lines in both cohorts control genetic background; the endpoint difference (-OR vs DTP) is a real distribution shift, handled and disclosed — never hidden.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127248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End-to-end pipeline (scripts/run_pipeline.py, seed 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38404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R: fetch +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NCBI counts -&gt; Entrez-&gt;symbol (n_dup logged) -&gt; keep/exclude reasons per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19202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A3A3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611880" cy="3840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R: QC + normalise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min_count 10; DESeq2 VST; per-cohort QC + PCA figures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9202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A3A3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17320"/>
            <a:ext cx="3611880" cy="38404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447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R: DE + 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~ cell_line + condition; FDR&lt;0.05 &amp; |LFC|&gt;1; cross-cohort consistent 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91839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291839"/>
            <a:ext cx="3611880" cy="38404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19271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Py: 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94759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GO-BP/KEGG/Reactome ORA (explicit universe) + pre-ranked GSEA; exported GMTs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3794759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A3A3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291839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291839"/>
            <a:ext cx="3611880" cy="3840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319271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Py: fgsea cross-check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794759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Same ranks + same GMTs through R fgsea; concordance reported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794759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A3A3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291839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291839"/>
            <a:ext cx="3611880" cy="38404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319271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Py: ML 04-08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794759"/>
            <a:ext cx="33649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5A6B77"/>
                </a:solidFill>
                <a:latin typeface="Calibri"/>
              </a:rPr>
              <a:t>Stability -&gt; nested CV (group=cell line) -&gt; locked external shot -&gt; SHAP -&gt;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9496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B77"/>
                </a:solidFill>
                <a:latin typeface="Calibri"/>
              </a:rPr>
              <a:t>Every stage writes tables/figures to results/ and re-runs deterministically; leakage checklist (22 items) re-verified after the final run.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127248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The ML part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WHAT 'SAME-LINE LEAKAGE' WOULD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Random K-folds would put PC9 replicate #2 in TRAIN and PC9 replicate #3 in TEST.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Replicates are near-clones → test folds are trivially predictable → inflated AUC.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CONTROLS ACTUALLY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41648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StratifiedGroupKFold(groups = cell line): a whole line rests in one fold.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Feature selection + scaling + tuning inside TRAINING folds only.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Bootstrap 95% CIs on every reported metric.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External cohort touched exactly once, after model 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40680" cy="48463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ONE OUTER FOLD (of 3, grouped by 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920240"/>
            <a:ext cx="4937760" cy="594360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PC9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3911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DE8EE"/>
                </a:solidFill>
                <a:latin typeface="Calibri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697480"/>
            <a:ext cx="4937760" cy="594360"/>
          </a:xfrm>
          <a:prstGeom prst="rect">
            <a:avLst/>
          </a:prstGeom>
          <a:solidFill>
            <a:srgbClr val="143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78892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H1975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163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DE8EE"/>
                </a:solidFill>
                <a:latin typeface="Calibri"/>
              </a:rPr>
              <a:t>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474720"/>
            <a:ext cx="4937760" cy="59436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56616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HCC827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9359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DDE8EE"/>
                </a:solidFill>
                <a:latin typeface="Calibri"/>
              </a:rPr>
              <a:t>TEST (outer)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9D2DC"/>
                </a:solidFill>
                <a:latin typeface="Calibri"/>
              </a:rPr>
              <a:t>Inside each TRAIN side: inner grouped GridSearchCV picks hyper-params and the K-best feature set; then refit on TRAIN, predict TEST once. Repeat over folds → out-of-fold metrics that a NEW cell line would see.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QC first: is the data even comparable?</a:t>
            </a:r>
          </a:p>
        </p:txBody>
      </p:sp>
      <p:pic>
        <p:nvPicPr>
          <p:cNvPr id="5" name="Picture 4" descr="GSE202859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1737360"/>
            <a:ext cx="4707331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8581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1 · PCA — discovery GSE202859 (VST-normalised)</a:t>
            </a:r>
          </a:p>
        </p:txBody>
      </p:sp>
      <p:pic>
        <p:nvPicPr>
          <p:cNvPr id="7" name="Picture 6" descr="GSE193258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1737360"/>
            <a:ext cx="4707331" cy="362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38581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2 · PCA — validation GSE193258 (VST-normalised)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23,585 / 25,823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genes detected (disc / val)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20-51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reads per 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1383" y="5806440"/>
            <a:ext cx="2834640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2,785 / 4,852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3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significant DEGs (disc / val)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0616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0344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18 + 18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labelled samples kept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DESeq2 contrasts — full-transcriptome shifts, not a few markers</a:t>
            </a:r>
          </a:p>
        </p:txBody>
      </p:sp>
      <p:pic>
        <p:nvPicPr>
          <p:cNvPr id="5" name="Picture 4" descr="GSE202859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15" y="1691640"/>
            <a:ext cx="4331208" cy="3712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3153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4 · Volcano — discovery (1,435 up / 1,350 down at FDR&lt;0.05, |LFC|&gt;1)</a:t>
            </a:r>
          </a:p>
        </p:txBody>
      </p:sp>
      <p:pic>
        <p:nvPicPr>
          <p:cNvPr id="7" name="Picture 6" descr="GSE193258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1691640"/>
            <a:ext cx="4331208" cy="3712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43153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5 · Volcano — validation (3,651 up / 1,201 down)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5870448"/>
            <a:ext cx="384048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5943600"/>
            <a:ext cx="362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7,000+ genes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6437376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red = significant &amp; direction-labelled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Top DEGs replicate cleanly across cohorts</a:t>
            </a:r>
          </a:p>
        </p:txBody>
      </p:sp>
      <p:pic>
        <p:nvPicPr>
          <p:cNvPr id="5" name="Picture 4" descr="GSE202859_heatmap_topD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7" y="1691640"/>
            <a:ext cx="3712464" cy="37124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3153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6 · Top-DEG heatmap — discovery</a:t>
            </a:r>
          </a:p>
        </p:txBody>
      </p:sp>
      <p:pic>
        <p:nvPicPr>
          <p:cNvPr id="7" name="Picture 6" descr="GSE193258_heatmap_topD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7" y="1691640"/>
            <a:ext cx="3712464" cy="3712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43153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7 · Top-DEG heatmap —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5897880"/>
            <a:ext cx="384048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5971032"/>
            <a:ext cx="362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Block structure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646480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samples cluster by line AND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The signature is REPRODUCIBLE, not cohort-specific</a:t>
            </a:r>
          </a:p>
        </p:txBody>
      </p:sp>
      <p:pic>
        <p:nvPicPr>
          <p:cNvPr id="5" name="Picture 4" descr="cross_DEG_l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16" y="1645920"/>
            <a:ext cx="4437888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77256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8 · log2FC(log2FC) — effect sizes agree, not just directions</a:t>
            </a:r>
          </a:p>
        </p:txBody>
      </p:sp>
      <p:pic>
        <p:nvPicPr>
          <p:cNvPr id="7" name="Picture 6" descr="cross_DEG_overlap_up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270" y="1645920"/>
            <a:ext cx="3808498" cy="3803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5477256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9 · UpSet decomposition of the overlap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5216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592531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1908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genes significant in BOTH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5852160"/>
            <a:ext cx="2834640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92531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1,112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641908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same direction (87%)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1383" y="585216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592531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3" y="641908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flipped (weaker, line-specific)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0616" y="585216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0344" y="592531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ALIGNED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641908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diagonal in Fig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ORA of the validated signature (explicit background)</a:t>
            </a:r>
          </a:p>
        </p:txBody>
      </p:sp>
      <p:pic>
        <p:nvPicPr>
          <p:cNvPr id="5" name="Picture 4" descr="enrichment_validated_GO_BP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90" y="1645920"/>
            <a:ext cx="3827259" cy="3529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0293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10 · GO Biological Process</a:t>
            </a:r>
          </a:p>
        </p:txBody>
      </p:sp>
      <p:pic>
        <p:nvPicPr>
          <p:cNvPr id="7" name="Picture 6" descr="enrichment_validated_KEGG_do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170" y="1645920"/>
            <a:ext cx="3827259" cy="3529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4840" y="520293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11 · KEGG</a:t>
            </a:r>
          </a:p>
        </p:txBody>
      </p:sp>
      <p:pic>
        <p:nvPicPr>
          <p:cNvPr id="9" name="Picture 8" descr="enrichment_validated_Reactome_dot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645920"/>
            <a:ext cx="3291840" cy="3035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4709160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12 · Reactome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Up: cell migration (FE 2.05), ECM organization (FE 2.53), cytokeratin/cytoskeleton (KEGG FE 2.48), developmental lineages (Reactome padj&lt;0.001) · Down-side absent by construction (validated set is shared-direction).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Pre-ranked GSEA: the loudest signal is a SHUTDOWN</a:t>
            </a:r>
          </a:p>
        </p:txBody>
      </p:sp>
      <p:pic>
        <p:nvPicPr>
          <p:cNvPr id="5" name="Picture 4" descr="gsea_GSE202859_KEG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14" y="1691640"/>
            <a:ext cx="3926411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4009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20 · Running ES — discovery (Ribosome NES -5.28)</a:t>
            </a:r>
          </a:p>
        </p:txBody>
      </p:sp>
      <p:pic>
        <p:nvPicPr>
          <p:cNvPr id="7" name="Picture 6" descr="gsea_GSE193258_KE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634" y="1691640"/>
            <a:ext cx="3926411" cy="362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34009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22 · Running ES — validation (Ribosome NES -6.89)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Ribosome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-5.28 / -6.89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Spliceosome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-3.99 / -6.87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1383" y="5806440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Ribosome biogenesis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3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-3.54 / -5.95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0616" y="5806440"/>
            <a:ext cx="2834640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0344" y="5879592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Persister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63733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hypoproliferative, de-differentiated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798064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Engine cross-check (D3): Python GSEA vs R fgsea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201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</a:rPr>
              <a:t>SAME ranked lists → SAME GMT files → two independent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Python primary: size-bucketed permutation null (fast, approximate).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 fgsea cross-check: exact multilevel p-values (bench-standard).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Concordance = does the approximate null preserve the biology? Answer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77639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050791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ρ = 0.86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445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— validation KEGG (347 sets)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3977639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4050791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ρ = 0.70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5445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— discovery KEGG (342 sets)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1383" y="3977639"/>
            <a:ext cx="2834640" cy="969264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050791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ρ = 0.67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3" y="45445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— discovery GO-BP (2,456 sets)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0616" y="3977639"/>
            <a:ext cx="2834640" cy="96926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4050791"/>
            <a:ext cx="26151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61-81%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45445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DDE8EE"/>
                </a:solidFill>
                <a:latin typeface="Calibri"/>
              </a:rPr>
              <a:t>NES sign agreement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B77"/>
                </a:solidFill>
                <a:latin typeface="Calibri"/>
              </a:rPr>
              <a:t>Read: strong hits concordant; tiny-|NES| sets flip sign freely (near-zero scores) → top-5 overlap partial (2-3 of 5). Influenced only by engine choice, never by the data — documented as a known nuance.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68833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One-shot external validation (locked models, done once)</a:t>
            </a:r>
          </a:p>
        </p:txBody>
      </p:sp>
      <p:pic>
        <p:nvPicPr>
          <p:cNvPr id="5" name="Picture 4" descr="externa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" y="1554480"/>
            <a:ext cx="4400092" cy="3666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48656"/>
            <a:ext cx="5120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33 · ROC — LR K=50 (CI 1.000-1.000)</a:t>
            </a:r>
          </a:p>
        </p:txBody>
      </p:sp>
      <p:pic>
        <p:nvPicPr>
          <p:cNvPr id="7" name="Picture 6" descr="external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4480"/>
            <a:ext cx="329184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450799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35 · Confusion @0.5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554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9659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ROC-AUC 1.000 (1.000-1.000)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PR-AUC 1.000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Sens 1.000 — all 9 resistant called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Spec 0.444 (4/9 sensitive above threshold)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Brier 0.132 strict; 0.012 transductive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5216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1">
                <a:solidFill>
                  <a:srgbClr val="5A6B77"/>
                </a:solidFill>
                <a:latin typeface="Calibri"/>
              </a:rPr>
              <a:t>target_z (transductive) separation is PERFECT — reported only as an optimistic bound (D1), because it re-scales with the test cohort's own statistics.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68833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From 48 model x K cells to 100 candidate biomarkers</a:t>
            </a:r>
          </a:p>
        </p:txBody>
      </p:sp>
      <p:pic>
        <p:nvPicPr>
          <p:cNvPr id="5" name="Picture 4" descr="GSE202859_auc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" y="1645920"/>
            <a:ext cx="5069433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94376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28 · AUC vs K — full exploratory surface (disc)</a:t>
            </a:r>
          </a:p>
        </p:txBody>
      </p:sp>
      <p:pic>
        <p:nvPicPr>
          <p:cNvPr id="7" name="Picture 6" descr="biomark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523" y="1645920"/>
            <a:ext cx="4138313" cy="362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29437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37 · Composite biomarker panel (stability+selection+SHAP)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704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Pre-registered primary = Logistic Regression K=50 (D2); every other cell shown with bootstrap CIs — no champion-cell cherrypicking.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68833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The head of the panel (stability = 1.000, nested-selection 0.44-0.83)</a:t>
            </a:r>
          </a:p>
        </p:txBody>
      </p:sp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83" y="1645920"/>
            <a:ext cx="4138313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94376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38 · SHAP attributions — tree interpreters (disc)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103120"/>
            <a:ext cx="5349240" cy="2377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29F05"/>
                </a:solidFill>
                <a:latin typeface="Calibri"/>
              </a:rPr>
              <a:t>TOP-10 COMPOSITE-RANKED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34640"/>
            <a:ext cx="4892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HECA · KLHL24 · SACK1A · HEG1 · IL33R · MAP3K3 · TBC1D9 · EFNB2 · MIR198 · MTURN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470916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846320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Claim discipline: candidates, not drivers. A few NCBI aliases (HECA, SACK1A, IL33R, MTURN) flagged for HGNC curation before any database deposit.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688336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D7 · Drug-withdrawal probe: state-like, not mutation-like</a:t>
            </a:r>
          </a:p>
        </p:txBody>
      </p:sp>
      <p:pic>
        <p:nvPicPr>
          <p:cNvPr id="5" name="Picture 4" descr="washou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400800" cy="3360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942332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Fig 39 · Locked LR K=50 applied to 42 excluded timecourse samples + 18 anchors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554480"/>
            <a:ext cx="4800600" cy="416052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P(Resistant) — transductive scheme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0" y="2103120"/>
          <a:ext cx="4343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31520"/>
                <a:gridCol w="1143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P(Res)</a:t>
                      </a:r>
                    </a:p>
                  </a:txBody>
                  <a:tcPr marT="38100" marB="38100" marL="88900" marR="50800" anchor="ctr">
                    <a:solidFill>
                      <a:srgbClr val="0F2A4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DMSO anchor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osi_acute 24h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DTP anchor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washout 72h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washout 96h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washout 7d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T="38100" marB="38100" marL="889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washout 10d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A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T="38100" marB="38100" marL="88900" marR="50800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502920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5A6B77"/>
                </a:solidFill>
                <a:latin typeface="Calibri"/>
              </a:rPr>
              <a:t>Strict scheme mirrors this gradient inside-cohort (anchors 0.34 / 0.99) — tables ship for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704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E2A33"/>
                </a:solidFill>
                <a:latin typeface="Calibri"/>
              </a:rPr>
              <a:t>No accuracy claimed (D7). 10-day washout drifts to 0.30: partial reversal — consistent with persister-state biology.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017520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What the two halves of the project agree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FA3A3"/>
                </a:solidFill>
                <a:latin typeface="Calibri"/>
              </a:rPr>
              <a:t>BIOLOGY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Resistant cells look like LESS translation + MORE motility: ribosome/spliceosome strongly down; migration/ECM/lineage programs up.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This is the persister (DTP) phenotype — slow-idling, plastic, chromatin-remodelled.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Matches de Miguel's mSWI/SNF-EMT/NRF2 axis and Criscione's DTP landscape — our discovered enrichment patterns reproduce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29F05"/>
                </a:solidFill>
                <a:latin typeface="Calibri"/>
              </a:rPr>
              <a:t>←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Ranking transfers perfectly (AUC 1.000): the two states are transcriptionally far apart — a fact there's no surprise about, and honest to show.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Calibration does NOT transfer perfectly under strict scaling (specificity 0.444): the DTP vs -OR endpoint shift moves the sensitive distribution.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0">
                <a:solidFill>
                  <a:srgbClr val="1E2A33"/>
                </a:solidFill>
                <a:latin typeface="Calibri"/>
              </a:rPr>
              <a:t>▪ Washout gradient in BOTH schemes says the learned signature tracks drug-exposure state in the expected direction — partially reversible.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017520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F2A43"/>
                </a:solidFill>
                <a:latin typeface="Calibri"/>
              </a:rPr>
              <a:t>Stated limitations — all individually acknowledged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n = 18 per cohort, 3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44475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every performance figure is exploratory; the wide specificity CI (0.11-0.78) is the honest symptom.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Endpoints differ (-OR vs DTP)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26771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treated as a distribution shift, never hidden; calibration, not ranking, is what breaks.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Cell lines ≠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09067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no immune microenvironment, no patient dosing — no clinical claims.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One-shot external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91363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model/threshold locked BEFORE the read; any post-lock change would invalidate the confirmatory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6344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66344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3659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ORA universe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73659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conservative per-source background (D10); moderate hits may be under-reported.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486400"/>
            <a:ext cx="91440" cy="71323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595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</a:rPr>
              <a:t>Symbol aliases in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559552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B77"/>
                </a:solidFill>
                <a:latin typeface="Calibri"/>
              </a:rPr>
              <a:t>HECA/SACK1A/IL33R/MTURN need HGNC curation before database deposition.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— five take-homes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66928" cy="5669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63624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F2A4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81328"/>
            <a:ext cx="10195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8F1F5"/>
                </a:solidFill>
                <a:latin typeface="Calibri"/>
              </a:rPr>
              <a:t>A 1,112-gene cross-cohort signature of osimertinib resistance (87% directional concordance) is robust across two independently produced studies.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78024"/>
            <a:ext cx="566928" cy="5669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32888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F2A4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50592"/>
            <a:ext cx="10195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8F1F5"/>
                </a:solidFill>
                <a:latin typeface="Calibri"/>
              </a:rPr>
              <a:t>Its biology is persister-like: translation machinery OFF, migration/ECM/lineage-plasticity programs ON (NES to -6.9).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47288"/>
            <a:ext cx="566928" cy="5669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502152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F2A4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19856"/>
            <a:ext cx="10195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8F1F5"/>
                </a:solidFill>
                <a:latin typeface="Calibri"/>
              </a:rPr>
              <a:t>Two GSEA engines (Python + fgsea) agree (rho 0.70-0.86) — the biology is not an implementation artefact.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16552"/>
            <a:ext cx="566928" cy="5669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471416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F2A43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10195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8F1F5"/>
                </a:solidFill>
                <a:latin typeface="Calibri"/>
              </a:rPr>
              <a:t>A pre-registered, leakage-safe linear classifier transfers one-shot to an untouched cohort (ROC-AUC 1.000, sens 1.000; wide, honestly-reported specificity).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385816"/>
            <a:ext cx="566928" cy="566928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40680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0F2A43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58384"/>
            <a:ext cx="10195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8F1F5"/>
                </a:solidFill>
                <a:latin typeface="Calibri"/>
              </a:rPr>
              <a:t>Drug withdrawal reverts the learned signal toward sensitive (0.80 → 0.30 by day 10): resistance here is state-like and partially reversible — a candidate-biomarker story, never a clinical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3017520" cy="310896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9748"/>
            <a:ext cx="228600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de Miguel FJ, et al. (2023) Cancer Cell 41(8):1516-1534.e9 — PMID 37541244 · DOI 10.1016/j.ccell.2023.07.005 · GSE202859 primary.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Criscione SW, et al. (2022) npj Precision Oncology 6:95 — PMID 36575215 · DOI 10.1038/s41698-022-00337-w · GSE193258 primary.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Blaquier JB, et al. (2023) Clin Cancer Res 29(18):3579-3591 — DOI 10.1158/1078-0432.CCR-22-1912.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Love MI, Huber W, Anders S (2014) Genome Biology 15:550 — DESeq2.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Subramanian A, et al. (2005) PNAS 102(43):15545-15550 — GSEA.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Korotkevich G, et al. (2021) bioRxiv 060012 — fgsea.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Kuleshov MV, et al. (2016) NAR 44(W1):W90-W97 — Enrichr GMT.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Gillespie M, et al. (2022) NAR 50(D1):D697-D705 — Reactome.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Kanehisa M, et al. (2023) NAR 51(D1):D587-D592 — KEGG.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Barrett T, et al. (2013) NAR 41(D1):D991-D995 — NCBI GEO.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Varma S, Simon R (2006) BMC Bioinformatics 7:91 — nested-CV bias.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Pedregosa F, et al. (2011) JMLR 12:2825-2830 — scikit-learn.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Chen T, Guestrin C (2016) KDD '16:785-794 — XGBoost.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1E2A33"/>
                </a:solidFill>
                <a:latin typeface="Calibri"/>
              </a:rPr>
              <a:t>▪ R Core Team (2024) R — statistical computing.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A6B77"/>
                </a:solidFill>
                <a:latin typeface="Calibri"/>
              </a:rPr>
              <a:t>Pipeline provenance: scripts/01-03 (R) · 03b-08 (Python) · 02b/10 (D7 washout) · 09_upset · config/config.yaml · docs/decisions.md · results/reports/session_info.txt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A6B77"/>
                </a:solidFill>
                <a:latin typeface="Calibri"/>
              </a:rPr>
              <a:t>Osimertinib-resistance transcriptomics · GSE202859 + GSE193258 · seed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