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000" y="3810000"/>
            <a:ext cx="10414000" cy="762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9000" y="2159000"/>
            <a:ext cx="10414000" cy="15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4038600"/>
            <a:ext cx="10414000" cy="10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2E0F0"/>
                </a:solidFill>
                <a:latin typeface="Calibri"/>
              </a:rPr>
              <a:t>Cisplatin resistance in ovarian cancer: differential expression, pathways &amp; machine-learning biomarkers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5588000"/>
            <a:ext cx="104140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0BEDC"/>
                </a:solidFill>
                <a:latin typeface="Calibri"/>
              </a:rPr>
              <a:t>Anushree </a:t>
            </a:r>
            <a:r>
              <a:rPr lang="en-US" sz="1400" dirty="0">
                <a:solidFill>
                  <a:srgbClr val="A0BEDC"/>
                </a:solidFill>
              </a:rPr>
              <a:t>Tyagi 23BCB0108 : </a:t>
            </a:r>
            <a:r>
              <a:rPr sz="1400" b="0" dirty="0">
                <a:solidFill>
                  <a:srgbClr val="A0BEDC"/>
                </a:solidFill>
                <a:latin typeface="Calibri"/>
              </a:rPr>
              <a:t>Data &amp; QC  </a:t>
            </a:r>
            <a:endParaRPr lang="en-US" sz="1400" dirty="0">
              <a:solidFill>
                <a:srgbClr val="A0BEDC"/>
              </a:solidFill>
              <a:latin typeface="Calibri"/>
            </a:endParaRPr>
          </a:p>
          <a:p>
            <a:pPr algn="l"/>
            <a:r>
              <a:rPr lang="en-US" sz="1400" b="0" dirty="0">
                <a:solidFill>
                  <a:srgbClr val="A0BEDC"/>
                </a:solidFill>
                <a:latin typeface="Calibri"/>
              </a:rPr>
              <a:t>Vivek Kumar 23BCB0137:  </a:t>
            </a:r>
            <a:r>
              <a:rPr sz="1400" b="0" dirty="0">
                <a:solidFill>
                  <a:srgbClr val="A0BEDC"/>
                </a:solidFill>
                <a:latin typeface="Calibri"/>
              </a:rPr>
              <a:t>DEGs &amp; Biology  </a:t>
            </a:r>
            <a:endParaRPr lang="en-US" sz="1400" b="0" dirty="0">
              <a:solidFill>
                <a:srgbClr val="A0BEDC"/>
              </a:solidFill>
              <a:latin typeface="Calibri"/>
            </a:endParaRPr>
          </a:p>
          <a:p>
            <a:r>
              <a:rPr lang="en-US" sz="1400" dirty="0">
                <a:solidFill>
                  <a:srgbClr val="A0BEDC"/>
                </a:solidFill>
              </a:rPr>
              <a:t>Solanki Nehal Shailesh 23BCB0076:  </a:t>
            </a:r>
            <a:r>
              <a:rPr sz="1400" b="0" dirty="0">
                <a:solidFill>
                  <a:srgbClr val="A0BEDC"/>
                </a:solidFill>
                <a:latin typeface="Calibri"/>
              </a:rPr>
              <a:t>ML &amp; Biomarkers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Background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24000"/>
            <a:ext cx="10668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Ovarian cancer: platinum (cisplatin) is first-line; acquired resistance drives relapse.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Resistance is multifactorial (epigenetic, metabolic, EMT, efflux, apoptosis evasion).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Objectives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Identify DEGs between resistant and sensitive ovarian cancer cells.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Validate DEGs across two independent GEO datasets.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Characteri</a:t>
            </a:r>
            <a:r>
              <a:rPr lang="en-US" sz="2000" dirty="0">
                <a:solidFill>
                  <a:srgbClr val="404040"/>
                </a:solidFill>
                <a:latin typeface="Calibri"/>
              </a:rPr>
              <a:t>z</a:t>
            </a:r>
            <a:r>
              <a:rPr sz="2000" dirty="0">
                <a:solidFill>
                  <a:srgbClr val="404040"/>
                </a:solidFill>
                <a:latin typeface="Calibri"/>
              </a:rPr>
              <a:t>e affected GO / KEGG pathways.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Build ML classifiers and rank a candidate biomarker panel.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Data: Two Independent GEO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178645"/>
              </p:ext>
            </p:extLst>
          </p:nvPr>
        </p:nvGraphicFramePr>
        <p:xfrm>
          <a:off x="762000" y="1524000"/>
          <a:ext cx="10668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GSE303889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GSE283381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404040"/>
                          </a:solidFill>
                          <a:latin typeface="Calibri"/>
                        </a:rPr>
                        <a:t>Cell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04040"/>
                          </a:solidFill>
                          <a:latin typeface="Calibri"/>
                        </a:rPr>
                        <a:t>SKOV-3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04040"/>
                          </a:solidFill>
                          <a:latin typeface="Calibri"/>
                        </a:rPr>
                        <a:t>OVCAR5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404040"/>
                          </a:solidFill>
                          <a:latin typeface="Calibri"/>
                        </a:rPr>
                        <a:t>Resistance model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04040"/>
                          </a:solidFill>
                          <a:latin typeface="Calibri"/>
                        </a:rPr>
                        <a:t>CDDP (chronic cisplatin)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04040"/>
                          </a:solidFill>
                          <a:latin typeface="Calibri"/>
                        </a:rPr>
                        <a:t>Cis-R (repeated cisplatin)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404040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04040"/>
                          </a:solidFill>
                          <a:latin typeface="Calibri"/>
                        </a:rPr>
                        <a:t>3 Sensitive vs 3 Resistant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04040"/>
                          </a:solidFill>
                          <a:latin typeface="Calibri"/>
                        </a:rPr>
                        <a:t>3 Sensitive vs 3 Resistant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40404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04040"/>
                          </a:solidFill>
                          <a:latin typeface="Calibri"/>
                        </a:rPr>
                        <a:t>Illumina NovaSeq 6000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404040"/>
                          </a:solidFill>
                          <a:latin typeface="Calibri"/>
                        </a:rPr>
                        <a:t>Illumina </a:t>
                      </a:r>
                      <a:r>
                        <a:rPr sz="2000" b="0" dirty="0" err="1">
                          <a:solidFill>
                            <a:srgbClr val="404040"/>
                          </a:solidFill>
                          <a:latin typeface="Calibri"/>
                        </a:rPr>
                        <a:t>NextSeq</a:t>
                      </a:r>
                      <a:r>
                        <a:rPr sz="2000" b="0" dirty="0">
                          <a:solidFill>
                            <a:srgbClr val="404040"/>
                          </a:solidFill>
                          <a:latin typeface="Calibri"/>
                        </a:rPr>
                        <a:t> 500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Analytical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7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GEO datasets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(2 studies)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0" y="177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Preprocess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&amp; QC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0" y="177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DESeq2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per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000" y="431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Cross-dataset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5000" y="431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 / KEGG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enrichment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5000" y="431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ML biomarker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46500" y="2057400"/>
            <a:ext cx="508000" cy="45720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556500" y="2057400"/>
            <a:ext cx="508000" cy="45720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9525000" y="2857500"/>
            <a:ext cx="457200" cy="508000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3746500" y="4597400"/>
            <a:ext cx="508000" cy="45720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556500" y="4597400"/>
            <a:ext cx="508000" cy="45720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Differential Expression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DESeq2, FDR &lt; 0.05 and |log2FC| &gt; 1 (Design ~ condition).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SKOV-3 (GSE303889): 5,212 DEGs (2,983 up / 2,229 down).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OVCAR5 (GSE283381): 2,572 DEGs (912 up / 1,660 down).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913 genes shared by both datasets (198 up / 220 down / 495 opposite).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Extensive, dataset-specific reprogramming; low shared log2FC correlation (~ -0.04).</a:t>
            </a:r>
          </a:p>
        </p:txBody>
      </p:sp>
      <p:pic>
        <p:nvPicPr>
          <p:cNvPr id="9" name="Picture 8" descr="volcano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333500"/>
            <a:ext cx="3386666" cy="2540000"/>
          </a:xfrm>
          <a:prstGeom prst="rect">
            <a:avLst/>
          </a:prstGeom>
        </p:spPr>
      </p:pic>
      <p:pic>
        <p:nvPicPr>
          <p:cNvPr id="10" name="Picture 9" descr="volcano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73500"/>
            <a:ext cx="3217333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Cross-Dataset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0800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913 shared DEGs = core cross-dataset cisplatin-resistance signature.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Distinct resistance mechanisms (KDM5 epigenetic vs pyrimidine metabolism).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Shared signature highlights EMT / ECM biology.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Consistently regulated genes = higher-confidence candidates.</a:t>
            </a:r>
          </a:p>
        </p:txBody>
      </p:sp>
      <p:pic>
        <p:nvPicPr>
          <p:cNvPr id="9" name="Picture 8" descr="ven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0" y="1333500"/>
            <a:ext cx="3556000" cy="2667000"/>
          </a:xfrm>
          <a:prstGeom prst="rect">
            <a:avLst/>
          </a:prstGeom>
        </p:spPr>
      </p:pic>
      <p:pic>
        <p:nvPicPr>
          <p:cNvPr id="10" name="Picture 9" descr="lfc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3937000"/>
            <a:ext cx="3132666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Functional Enrichment (GO / KEGG)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460500"/>
            <a:ext cx="508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KEGG (shared DEGs):</a:t>
            </a:r>
          </a:p>
          <a:p>
            <a:pPr lvl="1">
              <a:spcAft>
                <a:spcPts val="600"/>
              </a:spcAft>
            </a:pPr>
            <a:r>
              <a:rPr sz="2000" dirty="0">
                <a:solidFill>
                  <a:srgbClr val="505050"/>
                </a:solidFill>
                <a:latin typeface="Calibri"/>
              </a:rPr>
              <a:t>-  PI3K-Akt </a:t>
            </a:r>
            <a:r>
              <a:rPr sz="2000" dirty="0" err="1">
                <a:solidFill>
                  <a:srgbClr val="505050"/>
                </a:solidFill>
                <a:latin typeface="Calibri"/>
              </a:rPr>
              <a:t>signalling</a:t>
            </a:r>
            <a:endParaRPr sz="2000" dirty="0">
              <a:solidFill>
                <a:srgbClr val="505050"/>
              </a:solidFill>
              <a:latin typeface="Calibri"/>
            </a:endParaRPr>
          </a:p>
          <a:p>
            <a:pPr lvl="1">
              <a:spcAft>
                <a:spcPts val="600"/>
              </a:spcAft>
            </a:pPr>
            <a:r>
              <a:rPr sz="2000" dirty="0">
                <a:solidFill>
                  <a:srgbClr val="505050"/>
                </a:solidFill>
                <a:latin typeface="Calibri"/>
              </a:rPr>
              <a:t>-  Focal adhesion / Integrin </a:t>
            </a:r>
            <a:r>
              <a:rPr sz="2000" dirty="0" err="1">
                <a:solidFill>
                  <a:srgbClr val="505050"/>
                </a:solidFill>
                <a:latin typeface="Calibri"/>
              </a:rPr>
              <a:t>signalling</a:t>
            </a:r>
            <a:endParaRPr sz="2000" dirty="0">
              <a:solidFill>
                <a:srgbClr val="505050"/>
              </a:solidFill>
              <a:latin typeface="Calibri"/>
            </a:endParaRPr>
          </a:p>
          <a:p>
            <a:pPr lvl="1">
              <a:spcAft>
                <a:spcPts val="600"/>
              </a:spcAft>
            </a:pPr>
            <a:r>
              <a:rPr sz="2000" dirty="0">
                <a:solidFill>
                  <a:srgbClr val="505050"/>
                </a:solidFill>
                <a:latin typeface="Calibri"/>
              </a:rPr>
              <a:t>-  Cadherin </a:t>
            </a:r>
            <a:r>
              <a:rPr sz="2000" dirty="0" err="1">
                <a:solidFill>
                  <a:srgbClr val="505050"/>
                </a:solidFill>
                <a:latin typeface="Calibri"/>
              </a:rPr>
              <a:t>signalling</a:t>
            </a:r>
            <a:endParaRPr sz="2000" dirty="0">
              <a:solidFill>
                <a:srgbClr val="505050"/>
              </a:solidFill>
              <a:latin typeface="Calibri"/>
            </a:endParaRPr>
          </a:p>
          <a:p>
            <a:pPr lvl="1">
              <a:spcAft>
                <a:spcPts val="600"/>
              </a:spcAft>
            </a:pPr>
            <a:r>
              <a:rPr sz="2000" dirty="0">
                <a:solidFill>
                  <a:srgbClr val="505050"/>
                </a:solidFill>
                <a:latin typeface="Calibri"/>
              </a:rPr>
              <a:t>-  Cytoskeleton / ECM-receptor interaction</a:t>
            </a:r>
          </a:p>
        </p:txBody>
      </p:sp>
      <p:pic>
        <p:nvPicPr>
          <p:cNvPr id="10" name="Picture 9" descr="KEGG_dotplot_Shared_DE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560" y="1206500"/>
            <a:ext cx="6441440" cy="5153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ECD08-D6A4-DA82-BBF4-0F986EC18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2B6BC6-3AA4-260D-F760-DF4B874468B4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F471E-E932-18F2-BAF0-9C21C58567E7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9737F-5757-2DDE-73CB-05D00E251AE0}"/>
              </a:ext>
            </a:extLst>
          </p:cNvPr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Functional Enrichment (GO / KEGG)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B04FAA-95F1-86A7-668B-5AF771FAA3CE}"/>
              </a:ext>
            </a:extLst>
          </p:cNvPr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5AE37-F1CA-EEE6-DF43-E71767FF4293}"/>
              </a:ext>
            </a:extLst>
          </p:cNvPr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F5454-679C-9271-D148-81C341178793}"/>
              </a:ext>
            </a:extLst>
          </p:cNvPr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5B434-09E0-C6B3-AD20-6EAB15599669}"/>
              </a:ext>
            </a:extLst>
          </p:cNvPr>
          <p:cNvSpPr txBox="1"/>
          <p:nvPr/>
        </p:nvSpPr>
        <p:spPr>
          <a:xfrm>
            <a:off x="508000" y="1460500"/>
            <a:ext cx="446935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GO (shared DEGs):</a:t>
            </a:r>
          </a:p>
          <a:p>
            <a:pPr lvl="1">
              <a:spcAft>
                <a:spcPts val="600"/>
              </a:spcAft>
            </a:pPr>
            <a:r>
              <a:rPr sz="2000" dirty="0">
                <a:solidFill>
                  <a:srgbClr val="505050"/>
                </a:solidFill>
                <a:latin typeface="Calibri"/>
              </a:rPr>
              <a:t>- </a:t>
            </a:r>
            <a:r>
              <a:rPr lang="en-US" sz="2000" dirty="0">
                <a:solidFill>
                  <a:srgbClr val="505050"/>
                </a:solidFill>
                <a:latin typeface="Calibri"/>
              </a:rPr>
              <a:t> </a:t>
            </a:r>
            <a:r>
              <a:rPr sz="2000" dirty="0">
                <a:solidFill>
                  <a:srgbClr val="505050"/>
                </a:solidFill>
                <a:latin typeface="Calibri"/>
              </a:rPr>
              <a:t>Cell-substrate adhesion</a:t>
            </a:r>
          </a:p>
          <a:p>
            <a:pPr lvl="1">
              <a:spcAft>
                <a:spcPts val="600"/>
              </a:spcAft>
            </a:pPr>
            <a:r>
              <a:rPr sz="2000" dirty="0">
                <a:solidFill>
                  <a:srgbClr val="505050"/>
                </a:solidFill>
                <a:latin typeface="Calibri"/>
              </a:rPr>
              <a:t>-  Extracellular matrix </a:t>
            </a:r>
            <a:r>
              <a:rPr sz="2000" dirty="0" err="1">
                <a:solidFill>
                  <a:srgbClr val="505050"/>
                </a:solidFill>
                <a:latin typeface="Calibri"/>
              </a:rPr>
              <a:t>organisation</a:t>
            </a:r>
            <a:endParaRPr sz="2000" dirty="0">
              <a:solidFill>
                <a:srgbClr val="505050"/>
              </a:solidFill>
              <a:latin typeface="Calibri"/>
            </a:endParaRPr>
          </a:p>
          <a:p>
            <a:pPr lvl="1">
              <a:spcAft>
                <a:spcPts val="600"/>
              </a:spcAft>
            </a:pPr>
            <a:r>
              <a:rPr sz="2000" dirty="0">
                <a:solidFill>
                  <a:srgbClr val="505050"/>
                </a:solidFill>
                <a:latin typeface="Calibri"/>
              </a:rPr>
              <a:t>-  Extracellular structure </a:t>
            </a:r>
            <a:r>
              <a:rPr sz="2000" dirty="0" err="1">
                <a:solidFill>
                  <a:srgbClr val="505050"/>
                </a:solidFill>
                <a:latin typeface="Calibri"/>
              </a:rPr>
              <a:t>organisation</a:t>
            </a:r>
            <a:endParaRPr lang="en-IN" sz="2000" dirty="0">
              <a:solidFill>
                <a:srgbClr val="505050"/>
              </a:solidFill>
              <a:latin typeface="Calibri"/>
            </a:endParaRPr>
          </a:p>
        </p:txBody>
      </p:sp>
      <p:pic>
        <p:nvPicPr>
          <p:cNvPr id="9" name="Picture 8" descr="GO_dotplot_Shared_DE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119" y="1219200"/>
            <a:ext cx="6194301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1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Biological Model of Resistance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24000"/>
            <a:ext cx="106680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EMT (central): CDH1 down, EPCAM down, COL1A1/COL5A2/COL6A1 up, MMP14/MMP1 up.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Inflammation: IL1A up / IL1B up (inflammasome).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NDRG1 up — validated hub gene in 3 independent OC datasets.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KYNU up — kynurenine/</a:t>
            </a:r>
            <a:r>
              <a:rPr sz="2000" dirty="0" err="1">
                <a:solidFill>
                  <a:srgbClr val="404040"/>
                </a:solidFill>
                <a:latin typeface="Calibri"/>
              </a:rPr>
              <a:t>AhR</a:t>
            </a:r>
            <a:r>
              <a:rPr sz="2000" dirty="0">
                <a:solidFill>
                  <a:srgbClr val="404040"/>
                </a:solidFill>
                <a:latin typeface="Calibri"/>
              </a:rPr>
              <a:t> immune evasion.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SERPINE1 up — metastasis &amp; resistance effector.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Cisplatin </a:t>
            </a:r>
            <a:r>
              <a:rPr lang="en-IN" sz="2000" dirty="0">
                <a:solidFill>
                  <a:srgbClr val="404040"/>
                </a:solidFill>
                <a:latin typeface="Calibri"/>
              </a:rPr>
              <a:t>-&gt;</a:t>
            </a:r>
            <a:r>
              <a:rPr sz="2000" dirty="0">
                <a:solidFill>
                  <a:srgbClr val="404040"/>
                </a:solidFill>
                <a:latin typeface="Calibri"/>
              </a:rPr>
              <a:t> DNA damage -&gt; inflammation -&gt; ECM </a:t>
            </a:r>
            <a:r>
              <a:rPr sz="2000" dirty="0" err="1">
                <a:solidFill>
                  <a:srgbClr val="404040"/>
                </a:solidFill>
                <a:latin typeface="Calibri"/>
              </a:rPr>
              <a:t>remodelling</a:t>
            </a:r>
            <a:r>
              <a:rPr sz="2000" dirty="0">
                <a:solidFill>
                  <a:srgbClr val="404040"/>
                </a:solidFill>
                <a:latin typeface="Calibri"/>
              </a:rPr>
              <a:t> -&gt; EMT -&gt; RESISTANCE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Machine Learning: Design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Full 57,357-gene space; LR (ridge), Random Forest, SVM radial.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Nested top-K selection (K in {20,50,100,200,500}) — no test leakage.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Within-cell-line LOOCV: Acc 0.833-1.000, AUC 0.889-1.000.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External (</a:t>
            </a:r>
            <a:r>
              <a:rPr sz="2000" dirty="0" err="1">
                <a:solidFill>
                  <a:srgbClr val="404040"/>
                </a:solidFill>
                <a:latin typeface="Calibri"/>
              </a:rPr>
              <a:t>target_z</a:t>
            </a:r>
            <a:r>
              <a:rPr sz="2000" dirty="0">
                <a:solidFill>
                  <a:srgbClr val="404040"/>
                </a:solidFill>
                <a:latin typeface="Calibri"/>
              </a:rPr>
              <a:t>): SKOV3-&gt;OVCAR5 AUC 1.0 at K=20-50; reverse ~0.44-0.78.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External (</a:t>
            </a:r>
            <a:r>
              <a:rPr sz="2000" dirty="0" err="1">
                <a:solidFill>
                  <a:srgbClr val="404040"/>
                </a:solidFill>
                <a:latin typeface="Calibri"/>
              </a:rPr>
              <a:t>train_stats</a:t>
            </a:r>
            <a:r>
              <a:rPr sz="2000" dirty="0">
                <a:solidFill>
                  <a:srgbClr val="404040"/>
                </a:solidFill>
                <a:latin typeface="Calibri"/>
              </a:rPr>
              <a:t>, leak-free): mean AUC ~0.61.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Transfer is partial and asymmetric (n &lt;&lt; p).</a:t>
            </a:r>
          </a:p>
        </p:txBody>
      </p:sp>
      <p:pic>
        <p:nvPicPr>
          <p:cNvPr id="9" name="Picture 8" descr="ROC_LOO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333500"/>
            <a:ext cx="3628571" cy="2540000"/>
          </a:xfrm>
          <a:prstGeom prst="rect">
            <a:avLst/>
          </a:prstGeom>
        </p:spPr>
      </p:pic>
      <p:pic>
        <p:nvPicPr>
          <p:cNvPr id="10" name="Picture 9" descr="ROC_ex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73500"/>
            <a:ext cx="3447142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Candidate Biomarker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Ranked by cross-dataset selection frequency (models x K).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Top candidates: MAL2, GALNT6, LDOC1, SH2D4A, FBXL21P,</a:t>
            </a:r>
          </a:p>
          <a:p>
            <a:pPr lvl="1">
              <a:spcAft>
                <a:spcPts val="600"/>
              </a:spcAft>
            </a:pPr>
            <a:r>
              <a:rPr sz="2000" dirty="0">
                <a:solidFill>
                  <a:srgbClr val="505050"/>
                </a:solidFill>
                <a:latin typeface="Calibri"/>
              </a:rPr>
              <a:t>-  EPB41L3, TMEM218, CALB1, LINC02582, CELF2 ...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30-gene exploratory panel for follow-up.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NOT a clinically validated diagnostic panel.</a:t>
            </a:r>
          </a:p>
        </p:txBody>
      </p:sp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496833"/>
            <a:ext cx="6072524" cy="38643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Findings, Limitations &amp;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60500"/>
            <a:ext cx="1066800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Key findings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913 shared DEGs; EMT and ECM </a:t>
            </a:r>
            <a:r>
              <a:rPr sz="2000" dirty="0" err="1">
                <a:solidFill>
                  <a:srgbClr val="404040"/>
                </a:solidFill>
                <a:latin typeface="Calibri"/>
              </a:rPr>
              <a:t>remodelling</a:t>
            </a:r>
            <a:r>
              <a:rPr sz="2000" dirty="0">
                <a:solidFill>
                  <a:srgbClr val="404040"/>
                </a:solidFill>
                <a:latin typeface="Calibri"/>
              </a:rPr>
              <a:t> dominate.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PI3K-Akt, focal adhesion, integrin and cadherin pathways converge.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ML works within a cell line; cross-dataset transfer is partial / asymmetric.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Limitations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 n = 12 (exploratory); n &lt;&lt; p; </a:t>
            </a:r>
            <a:r>
              <a:rPr sz="2000" dirty="0" err="1">
                <a:solidFill>
                  <a:srgbClr val="404040"/>
                </a:solidFill>
                <a:latin typeface="Calibri"/>
              </a:rPr>
              <a:t>normalisation</a:t>
            </a:r>
            <a:r>
              <a:rPr sz="2000" dirty="0">
                <a:solidFill>
                  <a:srgbClr val="404040"/>
                </a:solidFill>
                <a:latin typeface="Calibri"/>
              </a:rPr>
              <a:t> choice matters.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Conclusions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• </a:t>
            </a:r>
            <a:r>
              <a:rPr lang="en-IN" sz="2000" dirty="0">
                <a:solidFill>
                  <a:srgbClr val="404040"/>
                </a:solidFill>
              </a:rPr>
              <a:t> A reproducible end-to-end pipeline: GEO -&gt; DESeq2 -&gt; cross-validation -&gt; GO/KEGG -&gt; ML.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solidFill>
                  <a:srgbClr val="404040"/>
                </a:solidFill>
              </a:rPr>
              <a:t>•  Defines a core cisplatin-resistance transcriptomic signature with clear EMT/ECM biology.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solidFill>
                  <a:srgbClr val="404040"/>
                </a:solidFill>
              </a:rPr>
              <a:t>•  Provides an interactive dashboard and a candidate biomarker panel.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83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E9CCA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765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NEHAL SOLANKI</cp:lastModifiedBy>
  <cp:revision>3</cp:revision>
  <dcterms:created xsi:type="dcterms:W3CDTF">2013-01-27T09:14:16Z</dcterms:created>
  <dcterms:modified xsi:type="dcterms:W3CDTF">2026-10-10T12:36:28Z</dcterms:modified>
  <cp:category/>
</cp:coreProperties>
</file>