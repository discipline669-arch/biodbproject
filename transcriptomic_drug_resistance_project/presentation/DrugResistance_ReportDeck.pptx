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89000" y="3810000"/>
            <a:ext cx="10414000" cy="76200"/>
          </a:xfrm>
          <a:prstGeom prst="rect">
            <a:avLst/>
          </a:prstGeom>
          <a:solidFill>
            <a:srgbClr val="2E9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9000" y="2159000"/>
            <a:ext cx="10414000" cy="1524000"/>
          </a:xfrm>
          <a:prstGeom prst="rect">
            <a:avLst/>
          </a:prstGeom>
          <a:noFill/>
        </p:spPr>
        <p:txBody>
          <a:bodyPr wrap="square" anchor="t">
            <a:spAutoFit/>
          </a:bodyPr>
          <a:lstStyle/>
          <a:p>
            <a:pPr algn="l"/>
            <a:r>
              <a:rPr sz="3800" b="1">
                <a:solidFill>
                  <a:srgbClr val="FFFFFF"/>
                </a:solidFill>
                <a:latin typeface="Calibri"/>
              </a:rPr>
              <a:t>Transcriptomic Profiling of Drug-Resistant Cancer Cells</a:t>
            </a:r>
          </a:p>
        </p:txBody>
      </p:sp>
      <p:sp>
        <p:nvSpPr>
          <p:cNvPr id="5" name="TextBox 4"/>
          <p:cNvSpPr txBox="1"/>
          <p:nvPr/>
        </p:nvSpPr>
        <p:spPr>
          <a:xfrm>
            <a:off x="889000" y="4038600"/>
            <a:ext cx="10414000" cy="1016000"/>
          </a:xfrm>
          <a:prstGeom prst="rect">
            <a:avLst/>
          </a:prstGeom>
          <a:noFill/>
        </p:spPr>
        <p:txBody>
          <a:bodyPr wrap="square" anchor="t">
            <a:spAutoFit/>
          </a:bodyPr>
          <a:lstStyle/>
          <a:p>
            <a:pPr algn="l"/>
            <a:r>
              <a:rPr sz="1800" b="0">
                <a:solidFill>
                  <a:srgbClr val="D2E0F0"/>
                </a:solidFill>
                <a:latin typeface="Calibri"/>
              </a:rPr>
              <a:t>Cisplatin resistance in ovarian cancer: differential expression, pathways &amp; machine-learning biomarkers</a:t>
            </a:r>
          </a:p>
        </p:txBody>
      </p:sp>
      <p:sp>
        <p:nvSpPr>
          <p:cNvPr id="6" name="TextBox 5"/>
          <p:cNvSpPr txBox="1"/>
          <p:nvPr/>
        </p:nvSpPr>
        <p:spPr>
          <a:xfrm>
            <a:off x="889000" y="5588000"/>
            <a:ext cx="10414000" cy="508000"/>
          </a:xfrm>
          <a:prstGeom prst="rect">
            <a:avLst/>
          </a:prstGeom>
          <a:noFill/>
        </p:spPr>
        <p:txBody>
          <a:bodyPr wrap="square" anchor="t">
            <a:spAutoFit/>
          </a:bodyPr>
          <a:lstStyle/>
          <a:p>
            <a:pPr algn="l"/>
            <a:r>
              <a:rPr sz="1400" b="0">
                <a:solidFill>
                  <a:srgbClr val="A0BEDC"/>
                </a:solidFill>
                <a:latin typeface="Calibri"/>
              </a:rPr>
              <a:t>Team of 3  |  Data &amp; QC  .  DEGs &amp; Biology  .  ML &amp; Biomarkers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652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5200"/>
            <a:ext cx="12192000" cy="63500"/>
          </a:xfrm>
          <a:prstGeom prst="rect">
            <a:avLst/>
          </a:prstGeom>
          <a:solidFill>
            <a:srgbClr val="2E9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1000" y="127000"/>
            <a:ext cx="11430000" cy="736600"/>
          </a:xfrm>
          <a:prstGeom prst="rect">
            <a:avLst/>
          </a:prstGeom>
          <a:noFill/>
        </p:spPr>
        <p:txBody>
          <a:bodyPr wrap="square" anchor="t">
            <a:spAutoFit/>
          </a:bodyPr>
          <a:lstStyle/>
          <a:p>
            <a:pPr algn="l"/>
            <a:r>
              <a:rPr sz="2600" b="1">
                <a:solidFill>
                  <a:srgbClr val="FFFFFF"/>
                </a:solidFill>
                <a:latin typeface="Calibri"/>
              </a:rPr>
              <a:t>Abstract</a:t>
            </a:r>
          </a:p>
        </p:txBody>
      </p:sp>
      <p:sp>
        <p:nvSpPr>
          <p:cNvPr id="5" name="Rectangle 4"/>
          <p:cNvSpPr/>
          <p:nvPr/>
        </p:nvSpPr>
        <p:spPr>
          <a:xfrm>
            <a:off x="381000" y="6502400"/>
            <a:ext cx="11430000" cy="12700"/>
          </a:xfrm>
          <a:prstGeom prst="rect">
            <a:avLst/>
          </a:prstGeom>
          <a:solidFill>
            <a:srgbClr val="D2D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1000" y="6515100"/>
            <a:ext cx="9144000" cy="279400"/>
          </a:xfrm>
          <a:prstGeom prst="rect">
            <a:avLst/>
          </a:prstGeom>
          <a:noFill/>
        </p:spPr>
        <p:txBody>
          <a:bodyPr wrap="square" anchor="t">
            <a:spAutoFit/>
          </a:bodyPr>
          <a:lstStyle/>
          <a:p>
            <a:pPr algn="l"/>
            <a:r>
              <a:rPr sz="1000" b="0">
                <a:solidFill>
                  <a:srgbClr val="828A96"/>
                </a:solidFill>
                <a:latin typeface="Calibri"/>
              </a:rPr>
              <a:t>Transcriptomic Profiling of Drug-Resistant Cancer Cells</a:t>
            </a:r>
          </a:p>
        </p:txBody>
      </p:sp>
      <p:sp>
        <p:nvSpPr>
          <p:cNvPr id="7" name="TextBox 6"/>
          <p:cNvSpPr txBox="1"/>
          <p:nvPr/>
        </p:nvSpPr>
        <p:spPr>
          <a:xfrm>
            <a:off x="11303000" y="6515100"/>
            <a:ext cx="508000" cy="279400"/>
          </a:xfrm>
          <a:prstGeom prst="rect">
            <a:avLst/>
          </a:prstGeom>
          <a:noFill/>
        </p:spPr>
        <p:txBody>
          <a:bodyPr wrap="square" anchor="t">
            <a:spAutoFit/>
          </a:bodyPr>
          <a:lstStyle/>
          <a:p>
            <a:pPr algn="r"/>
            <a:r>
              <a:rPr sz="1000" b="0">
                <a:solidFill>
                  <a:srgbClr val="828A96"/>
                </a:solidFill>
                <a:latin typeface="Calibri"/>
              </a:rPr>
              <a:t>2</a:t>
            </a:r>
          </a:p>
        </p:txBody>
      </p:sp>
      <p:sp>
        <p:nvSpPr>
          <p:cNvPr id="8" name="TextBox 7"/>
          <p:cNvSpPr txBox="1"/>
          <p:nvPr/>
        </p:nvSpPr>
        <p:spPr>
          <a:xfrm>
            <a:off x="762000" y="1524000"/>
            <a:ext cx="10668000" cy="4826000"/>
          </a:xfrm>
          <a:prstGeom prst="rect">
            <a:avLst/>
          </a:prstGeom>
          <a:noFill/>
        </p:spPr>
        <p:txBody>
          <a:bodyPr wrap="square">
            <a:spAutoFit/>
          </a:bodyPr>
          <a:lstStyle/>
          <a:p>
            <a:pPr>
              <a:spcAft>
                <a:spcPts val="500"/>
              </a:spcAft>
            </a:pPr>
            <a:r>
              <a:rPr sz="1500">
                <a:solidFill>
                  <a:srgbClr val="404040"/>
                </a:solidFill>
                <a:latin typeface="Calibri"/>
              </a:rPr>
              <a:t>•  Ovarian cancer is the most lethal gynaecologic malignancy; cisplatin is first-line, but acquired resistance drives relapse.</a:t>
            </a:r>
          </a:p>
          <a:p>
            <a:pPr>
              <a:spcAft>
                <a:spcPts val="500"/>
              </a:spcAft>
            </a:pPr>
            <a:r>
              <a:rPr sz="1500">
                <a:solidFill>
                  <a:srgbClr val="404040"/>
                </a:solidFill>
                <a:latin typeface="Calibri"/>
              </a:rPr>
              <a:t>•  Integrated two independent RNA-seq datasets: GSE303889 (SKOV-3) and GSE283381 (OVCAR5), 3 vs 3 each (n = 12).</a:t>
            </a:r>
          </a:p>
          <a:p>
            <a:pPr>
              <a:spcAft>
                <a:spcPts val="500"/>
              </a:spcAft>
            </a:pPr>
            <a:r>
              <a:rPr sz="1500">
                <a:solidFill>
                  <a:srgbClr val="404040"/>
                </a:solidFill>
                <a:latin typeface="Calibri"/>
              </a:rPr>
              <a:t>•  DESeq2 (FDR &lt; 0.05, |log2FC| &gt; 1): 5,212 DEGs (SKOV-3); 2,572 DEGs (OVCAR5); 913 shared.</a:t>
            </a:r>
          </a:p>
          <a:p>
            <a:pPr>
              <a:spcAft>
                <a:spcPts val="500"/>
              </a:spcAft>
            </a:pPr>
            <a:r>
              <a:rPr sz="1500">
                <a:solidFill>
                  <a:srgbClr val="404040"/>
                </a:solidFill>
                <a:latin typeface="Calibri"/>
              </a:rPr>
              <a:t>•  Enrichment converged on ECM organisation, cell-substrate adhesion and PI3K-Akt / focal-adhesion / integrin / cadherin signalling; EMT dominant.</a:t>
            </a:r>
          </a:p>
          <a:p>
            <a:pPr>
              <a:spcAft>
                <a:spcPts val="500"/>
              </a:spcAft>
            </a:pPr>
            <a:r>
              <a:rPr sz="1500">
                <a:solidFill>
                  <a:srgbClr val="404040"/>
                </a:solidFill>
                <a:latin typeface="Calibri"/>
              </a:rPr>
              <a:t>•  ML: within-cell-line LOOCV ROC-AUC 0.889-1.000; cross-dataset transfer partial and asymmetric (strict leak-free mean AUC 0.61).</a:t>
            </a:r>
          </a:p>
          <a:p>
            <a:pPr>
              <a:spcAft>
                <a:spcPts val="500"/>
              </a:spcAft>
            </a:pPr>
            <a:r>
              <a:rPr sz="1500">
                <a:solidFill>
                  <a:srgbClr val="404040"/>
                </a:solidFill>
                <a:latin typeface="Calibri"/>
              </a:rPr>
              <a:t>•  30-gene candidate panel (MAL2, GALNT6, ...) nominated for follow-up; exploratory given n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652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5200"/>
            <a:ext cx="12192000" cy="63500"/>
          </a:xfrm>
          <a:prstGeom prst="rect">
            <a:avLst/>
          </a:prstGeom>
          <a:solidFill>
            <a:srgbClr val="2E9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1000" y="127000"/>
            <a:ext cx="11430000" cy="736600"/>
          </a:xfrm>
          <a:prstGeom prst="rect">
            <a:avLst/>
          </a:prstGeom>
          <a:noFill/>
        </p:spPr>
        <p:txBody>
          <a:bodyPr wrap="square" anchor="t">
            <a:spAutoFit/>
          </a:bodyPr>
          <a:lstStyle/>
          <a:p>
            <a:pPr algn="l"/>
            <a:r>
              <a:rPr sz="2600" b="1">
                <a:solidFill>
                  <a:srgbClr val="FFFFFF"/>
                </a:solidFill>
                <a:latin typeface="Calibri"/>
              </a:rPr>
              <a:t>Introduction</a:t>
            </a:r>
          </a:p>
        </p:txBody>
      </p:sp>
      <p:sp>
        <p:nvSpPr>
          <p:cNvPr id="5" name="Rectangle 4"/>
          <p:cNvSpPr/>
          <p:nvPr/>
        </p:nvSpPr>
        <p:spPr>
          <a:xfrm>
            <a:off x="381000" y="6502400"/>
            <a:ext cx="11430000" cy="12700"/>
          </a:xfrm>
          <a:prstGeom prst="rect">
            <a:avLst/>
          </a:prstGeom>
          <a:solidFill>
            <a:srgbClr val="D2D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1000" y="6515100"/>
            <a:ext cx="9144000" cy="279400"/>
          </a:xfrm>
          <a:prstGeom prst="rect">
            <a:avLst/>
          </a:prstGeom>
          <a:noFill/>
        </p:spPr>
        <p:txBody>
          <a:bodyPr wrap="square" anchor="t">
            <a:spAutoFit/>
          </a:bodyPr>
          <a:lstStyle/>
          <a:p>
            <a:pPr algn="l"/>
            <a:r>
              <a:rPr sz="1000" b="0">
                <a:solidFill>
                  <a:srgbClr val="828A96"/>
                </a:solidFill>
                <a:latin typeface="Calibri"/>
              </a:rPr>
              <a:t>Transcriptomic Profiling of Drug-Resistant Cancer Cells</a:t>
            </a:r>
          </a:p>
        </p:txBody>
      </p:sp>
      <p:sp>
        <p:nvSpPr>
          <p:cNvPr id="7" name="TextBox 6"/>
          <p:cNvSpPr txBox="1"/>
          <p:nvPr/>
        </p:nvSpPr>
        <p:spPr>
          <a:xfrm>
            <a:off x="11303000" y="6515100"/>
            <a:ext cx="508000" cy="279400"/>
          </a:xfrm>
          <a:prstGeom prst="rect">
            <a:avLst/>
          </a:prstGeom>
          <a:noFill/>
        </p:spPr>
        <p:txBody>
          <a:bodyPr wrap="square" anchor="t">
            <a:spAutoFit/>
          </a:bodyPr>
          <a:lstStyle/>
          <a:p>
            <a:pPr algn="r"/>
            <a:r>
              <a:rPr sz="1000" b="0">
                <a:solidFill>
                  <a:srgbClr val="828A96"/>
                </a:solidFill>
                <a:latin typeface="Calibri"/>
              </a:rPr>
              <a:t>3</a:t>
            </a:r>
          </a:p>
        </p:txBody>
      </p:sp>
      <p:sp>
        <p:nvSpPr>
          <p:cNvPr id="8" name="TextBox 7"/>
          <p:cNvSpPr txBox="1"/>
          <p:nvPr/>
        </p:nvSpPr>
        <p:spPr>
          <a:xfrm>
            <a:off x="762000" y="1460500"/>
            <a:ext cx="10668000" cy="4889500"/>
          </a:xfrm>
          <a:prstGeom prst="rect">
            <a:avLst/>
          </a:prstGeom>
          <a:noFill/>
        </p:spPr>
        <p:txBody>
          <a:bodyPr wrap="square">
            <a:spAutoFit/>
          </a:bodyPr>
          <a:lstStyle/>
          <a:p>
            <a:pPr>
              <a:spcAft>
                <a:spcPts val="500"/>
              </a:spcAft>
            </a:pPr>
            <a:r>
              <a:rPr sz="1500">
                <a:solidFill>
                  <a:srgbClr val="404040"/>
                </a:solidFill>
                <a:latin typeface="Calibri"/>
              </a:rPr>
              <a:t>Introduction</a:t>
            </a:r>
          </a:p>
          <a:p>
            <a:pPr>
              <a:spcAft>
                <a:spcPts val="500"/>
              </a:spcAft>
            </a:pPr>
            <a:r>
              <a:rPr sz="1500">
                <a:solidFill>
                  <a:srgbClr val="404040"/>
                </a:solidFill>
                <a:latin typeface="Calibri"/>
              </a:rPr>
              <a:t>•  Ovarian cancer: most patients present advanced; first-line = cytoreductive surgery + platinum (cisplatin) +/- taxane.</a:t>
            </a:r>
          </a:p>
          <a:p>
            <a:pPr>
              <a:spcAft>
                <a:spcPts val="500"/>
              </a:spcAft>
            </a:pPr>
            <a:r>
              <a:rPr sz="1500">
                <a:solidFill>
                  <a:srgbClr val="404040"/>
                </a:solidFill>
                <a:latin typeface="Calibri"/>
              </a:rPr>
              <a:t>•  Platinum forms DNA crosslinks -&gt; apoptosis; intact DNA-damage response is central to cytotoxicity.</a:t>
            </a:r>
          </a:p>
          <a:p>
            <a:pPr>
              <a:spcAft>
                <a:spcPts val="500"/>
              </a:spcAft>
            </a:pPr>
            <a:r>
              <a:rPr sz="1500">
                <a:solidFill>
                  <a:srgbClr val="404040"/>
                </a:solidFill>
                <a:latin typeface="Calibri"/>
              </a:rPr>
              <a:t>•  Most patients relapse with platinum-resistant disease; resistance is the principal obstacle to survival.</a:t>
            </a:r>
          </a:p>
          <a:p>
            <a:pPr>
              <a:spcAft>
                <a:spcPts val="500"/>
              </a:spcAft>
            </a:pPr>
          </a:p>
          <a:p>
            <a:pPr>
              <a:spcAft>
                <a:spcPts val="500"/>
              </a:spcAft>
            </a:pPr>
            <a:r>
              <a:rPr sz="1500">
                <a:solidFill>
                  <a:srgbClr val="404040"/>
                </a:solidFill>
                <a:latin typeface="Calibri"/>
              </a:rPr>
              <a:t>Problem of acquired resistance</a:t>
            </a:r>
          </a:p>
          <a:p>
            <a:pPr>
              <a:spcAft>
                <a:spcPts val="500"/>
              </a:spcAft>
            </a:pPr>
            <a:r>
              <a:rPr sz="1500">
                <a:solidFill>
                  <a:srgbClr val="404040"/>
                </a:solidFill>
                <a:latin typeface="Calibri"/>
              </a:rPr>
              <a:t>•  Adaptive, polyclonal process: reduced uptake / increased efflux, enhanced DNA repair, altered apoptosis, epigenetic and metabolic rewiring, EMT / stemness.</a:t>
            </a:r>
          </a:p>
          <a:p>
            <a:pPr>
              <a:spcAft>
                <a:spcPts val="500"/>
              </a:spcAft>
            </a:pPr>
            <a:r>
              <a:rPr sz="1500">
                <a:solidFill>
                  <a:srgbClr val="404040"/>
                </a:solidFill>
                <a:latin typeface="Calibri"/>
              </a:rPr>
              <a:t>•  Mechanisms differ between models and patients -&gt; single-dataset signatures do not reproduce.</a:t>
            </a:r>
          </a:p>
          <a:p>
            <a:pPr>
              <a:spcAft>
                <a:spcPts val="500"/>
              </a:spcAft>
            </a:pPr>
            <a:r>
              <a:rPr sz="1500">
                <a:solidFill>
                  <a:srgbClr val="404040"/>
                </a:solidFill>
                <a:latin typeface="Calibri"/>
              </a:rPr>
              <a:t>•  Need consistently dysregulated genes across independent models as robust biomarkers and targets.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652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5200"/>
            <a:ext cx="12192000" cy="63500"/>
          </a:xfrm>
          <a:prstGeom prst="rect">
            <a:avLst/>
          </a:prstGeom>
          <a:solidFill>
            <a:srgbClr val="2E9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1000" y="127000"/>
            <a:ext cx="11430000" cy="736600"/>
          </a:xfrm>
          <a:prstGeom prst="rect">
            <a:avLst/>
          </a:prstGeom>
          <a:noFill/>
        </p:spPr>
        <p:txBody>
          <a:bodyPr wrap="square" anchor="t">
            <a:spAutoFit/>
          </a:bodyPr>
          <a:lstStyle/>
          <a:p>
            <a:pPr algn="l"/>
            <a:r>
              <a:rPr sz="2600" b="1">
                <a:solidFill>
                  <a:srgbClr val="FFFFFF"/>
                </a:solidFill>
                <a:latin typeface="Calibri"/>
              </a:rPr>
              <a:t>Introduction (cont.)</a:t>
            </a:r>
          </a:p>
        </p:txBody>
      </p:sp>
      <p:sp>
        <p:nvSpPr>
          <p:cNvPr id="5" name="Rectangle 4"/>
          <p:cNvSpPr/>
          <p:nvPr/>
        </p:nvSpPr>
        <p:spPr>
          <a:xfrm>
            <a:off x="381000" y="6502400"/>
            <a:ext cx="11430000" cy="12700"/>
          </a:xfrm>
          <a:prstGeom prst="rect">
            <a:avLst/>
          </a:prstGeom>
          <a:solidFill>
            <a:srgbClr val="D2D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1000" y="6515100"/>
            <a:ext cx="9144000" cy="279400"/>
          </a:xfrm>
          <a:prstGeom prst="rect">
            <a:avLst/>
          </a:prstGeom>
          <a:noFill/>
        </p:spPr>
        <p:txBody>
          <a:bodyPr wrap="square" anchor="t">
            <a:spAutoFit/>
          </a:bodyPr>
          <a:lstStyle/>
          <a:p>
            <a:pPr algn="l"/>
            <a:r>
              <a:rPr sz="1000" b="0">
                <a:solidFill>
                  <a:srgbClr val="828A96"/>
                </a:solidFill>
                <a:latin typeface="Calibri"/>
              </a:rPr>
              <a:t>Transcriptomic Profiling of Drug-Resistant Cancer Cells</a:t>
            </a:r>
          </a:p>
        </p:txBody>
      </p:sp>
      <p:sp>
        <p:nvSpPr>
          <p:cNvPr id="7" name="TextBox 6"/>
          <p:cNvSpPr txBox="1"/>
          <p:nvPr/>
        </p:nvSpPr>
        <p:spPr>
          <a:xfrm>
            <a:off x="11303000" y="6515100"/>
            <a:ext cx="508000" cy="279400"/>
          </a:xfrm>
          <a:prstGeom prst="rect">
            <a:avLst/>
          </a:prstGeom>
          <a:noFill/>
        </p:spPr>
        <p:txBody>
          <a:bodyPr wrap="square" anchor="t">
            <a:spAutoFit/>
          </a:bodyPr>
          <a:lstStyle/>
          <a:p>
            <a:pPr algn="r"/>
            <a:r>
              <a:rPr sz="1000" b="0">
                <a:solidFill>
                  <a:srgbClr val="828A96"/>
                </a:solidFill>
                <a:latin typeface="Calibri"/>
              </a:rPr>
              <a:t>4</a:t>
            </a:r>
          </a:p>
        </p:txBody>
      </p:sp>
      <p:sp>
        <p:nvSpPr>
          <p:cNvPr id="8" name="TextBox 7"/>
          <p:cNvSpPr txBox="1"/>
          <p:nvPr/>
        </p:nvSpPr>
        <p:spPr>
          <a:xfrm>
            <a:off x="762000" y="1460500"/>
            <a:ext cx="10668000" cy="4889500"/>
          </a:xfrm>
          <a:prstGeom prst="rect">
            <a:avLst/>
          </a:prstGeom>
          <a:noFill/>
        </p:spPr>
        <p:txBody>
          <a:bodyPr wrap="square">
            <a:spAutoFit/>
          </a:bodyPr>
          <a:lstStyle/>
          <a:p>
            <a:pPr>
              <a:spcAft>
                <a:spcPts val="500"/>
              </a:spcAft>
            </a:pPr>
            <a:r>
              <a:rPr sz="1500">
                <a:solidFill>
                  <a:srgbClr val="404040"/>
                </a:solidFill>
                <a:latin typeface="Calibri"/>
              </a:rPr>
              <a:t>Objectives</a:t>
            </a:r>
          </a:p>
          <a:p>
            <a:pPr>
              <a:spcAft>
                <a:spcPts val="500"/>
              </a:spcAft>
            </a:pPr>
            <a:r>
              <a:rPr sz="1500">
                <a:solidFill>
                  <a:srgbClr val="404040"/>
                </a:solidFill>
                <a:latin typeface="Calibri"/>
              </a:rPr>
              <a:t>•  Identify DEGs between cisplatin-resistant and sensitive ovarian cancer cells with DESeq2.</a:t>
            </a:r>
          </a:p>
          <a:p>
            <a:pPr>
              <a:spcAft>
                <a:spcPts val="500"/>
              </a:spcAft>
            </a:pPr>
            <a:r>
              <a:rPr sz="1500">
                <a:solidFill>
                  <a:srgbClr val="404040"/>
                </a:solidFill>
                <a:latin typeface="Calibri"/>
              </a:rPr>
              <a:t>•  Validate DEGs across two independent GEO datasets -&gt; a consistent core signature.</a:t>
            </a:r>
          </a:p>
          <a:p>
            <a:pPr>
              <a:spcAft>
                <a:spcPts val="500"/>
              </a:spcAft>
            </a:pPr>
            <a:r>
              <a:rPr sz="1500">
                <a:solidFill>
                  <a:srgbClr val="404040"/>
                </a:solidFill>
                <a:latin typeface="Calibri"/>
              </a:rPr>
              <a:t>•  Characterise affected biology via GO and KEGG enrichment.</a:t>
            </a:r>
          </a:p>
          <a:p>
            <a:pPr>
              <a:spcAft>
                <a:spcPts val="500"/>
              </a:spcAft>
            </a:pPr>
            <a:r>
              <a:rPr sz="1500">
                <a:solidFill>
                  <a:srgbClr val="404040"/>
                </a:solidFill>
                <a:latin typeface="Calibri"/>
              </a:rPr>
              <a:t>•  Build supervised classifiers and evaluate leakage-free cross-validation.</a:t>
            </a:r>
          </a:p>
          <a:p>
            <a:pPr>
              <a:spcAft>
                <a:spcPts val="500"/>
              </a:spcAft>
            </a:pPr>
            <a:r>
              <a:rPr sz="1500">
                <a:solidFill>
                  <a:srgbClr val="404040"/>
                </a:solidFill>
                <a:latin typeface="Calibri"/>
              </a:rPr>
              <a:t>•  Rank a compact, interpretable candidate biomarker panel; deliver a reproducible pipeline + dashboard.</a:t>
            </a:r>
          </a:p>
          <a:p>
            <a:pPr>
              <a:spcAft>
                <a:spcPts val="500"/>
              </a:spcAft>
            </a:pPr>
          </a:p>
          <a:p>
            <a:pPr>
              <a:spcAft>
                <a:spcPts val="500"/>
              </a:spcAft>
            </a:pPr>
            <a:r>
              <a:rPr sz="1500">
                <a:solidFill>
                  <a:srgbClr val="404040"/>
                </a:solidFill>
                <a:latin typeface="Calibri"/>
              </a:rPr>
              <a:t>Scope and contributions</a:t>
            </a:r>
          </a:p>
          <a:p>
            <a:pPr>
              <a:spcAft>
                <a:spcPts val="500"/>
              </a:spcAft>
            </a:pPr>
            <a:r>
              <a:rPr sz="1500">
                <a:solidFill>
                  <a:srgbClr val="404040"/>
                </a:solidFill>
                <a:latin typeface="Calibri"/>
              </a:rPr>
              <a:t>•  Computational, hypothesis-generating study on public data; exploratory, not clinical validation.</a:t>
            </a:r>
          </a:p>
          <a:p>
            <a:pPr>
              <a:spcAft>
                <a:spcPts val="500"/>
              </a:spcAft>
            </a:pPr>
            <a:r>
              <a:rPr sz="1500">
                <a:solidFill>
                  <a:srgbClr val="404040"/>
                </a:solidFill>
                <a:latin typeface="Calibri"/>
              </a:rPr>
              <a:t>•  Cross-dataset core signature; nested (leakage-free) feature selection; honest external generalisation reporting.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652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5200"/>
            <a:ext cx="12192000" cy="63500"/>
          </a:xfrm>
          <a:prstGeom prst="rect">
            <a:avLst/>
          </a:prstGeom>
          <a:solidFill>
            <a:srgbClr val="2E9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1000" y="127000"/>
            <a:ext cx="11430000" cy="736600"/>
          </a:xfrm>
          <a:prstGeom prst="rect">
            <a:avLst/>
          </a:prstGeom>
          <a:noFill/>
        </p:spPr>
        <p:txBody>
          <a:bodyPr wrap="square" anchor="t">
            <a:spAutoFit/>
          </a:bodyPr>
          <a:lstStyle/>
          <a:p>
            <a:pPr algn="l"/>
            <a:r>
              <a:rPr sz="2600" b="1">
                <a:solidFill>
                  <a:srgbClr val="FFFFFF"/>
                </a:solidFill>
                <a:latin typeface="Calibri"/>
              </a:rPr>
              <a:t>Literature Review</a:t>
            </a:r>
          </a:p>
        </p:txBody>
      </p:sp>
      <p:sp>
        <p:nvSpPr>
          <p:cNvPr id="5" name="Rectangle 4"/>
          <p:cNvSpPr/>
          <p:nvPr/>
        </p:nvSpPr>
        <p:spPr>
          <a:xfrm>
            <a:off x="381000" y="6502400"/>
            <a:ext cx="11430000" cy="12700"/>
          </a:xfrm>
          <a:prstGeom prst="rect">
            <a:avLst/>
          </a:prstGeom>
          <a:solidFill>
            <a:srgbClr val="D2D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1000" y="6515100"/>
            <a:ext cx="9144000" cy="279400"/>
          </a:xfrm>
          <a:prstGeom prst="rect">
            <a:avLst/>
          </a:prstGeom>
          <a:noFill/>
        </p:spPr>
        <p:txBody>
          <a:bodyPr wrap="square" anchor="t">
            <a:spAutoFit/>
          </a:bodyPr>
          <a:lstStyle/>
          <a:p>
            <a:pPr algn="l"/>
            <a:r>
              <a:rPr sz="1000" b="0">
                <a:solidFill>
                  <a:srgbClr val="828A96"/>
                </a:solidFill>
                <a:latin typeface="Calibri"/>
              </a:rPr>
              <a:t>Transcriptomic Profiling of Drug-Resistant Cancer Cells</a:t>
            </a:r>
          </a:p>
        </p:txBody>
      </p:sp>
      <p:sp>
        <p:nvSpPr>
          <p:cNvPr id="7" name="TextBox 6"/>
          <p:cNvSpPr txBox="1"/>
          <p:nvPr/>
        </p:nvSpPr>
        <p:spPr>
          <a:xfrm>
            <a:off x="11303000" y="6515100"/>
            <a:ext cx="508000" cy="279400"/>
          </a:xfrm>
          <a:prstGeom prst="rect">
            <a:avLst/>
          </a:prstGeom>
          <a:noFill/>
        </p:spPr>
        <p:txBody>
          <a:bodyPr wrap="square" anchor="t">
            <a:spAutoFit/>
          </a:bodyPr>
          <a:lstStyle/>
          <a:p>
            <a:pPr algn="r"/>
            <a:r>
              <a:rPr sz="1000" b="0">
                <a:solidFill>
                  <a:srgbClr val="828A96"/>
                </a:solidFill>
                <a:latin typeface="Calibri"/>
              </a:rPr>
              <a:t>5</a:t>
            </a:r>
          </a:p>
        </p:txBody>
      </p:sp>
      <p:sp>
        <p:nvSpPr>
          <p:cNvPr id="8" name="TextBox 7"/>
          <p:cNvSpPr txBox="1"/>
          <p:nvPr/>
        </p:nvSpPr>
        <p:spPr>
          <a:xfrm>
            <a:off x="762000" y="1460500"/>
            <a:ext cx="10668000" cy="4889500"/>
          </a:xfrm>
          <a:prstGeom prst="rect">
            <a:avLst/>
          </a:prstGeom>
          <a:noFill/>
        </p:spPr>
        <p:txBody>
          <a:bodyPr wrap="square">
            <a:spAutoFit/>
          </a:bodyPr>
          <a:lstStyle/>
          <a:p>
            <a:pPr>
              <a:spcAft>
                <a:spcPts val="500"/>
              </a:spcAft>
            </a:pPr>
            <a:r>
              <a:rPr sz="1500">
                <a:solidFill>
                  <a:srgbClr val="404040"/>
                </a:solidFill>
                <a:latin typeface="Calibri"/>
              </a:rPr>
              <a:t>Mechanisms</a:t>
            </a:r>
          </a:p>
          <a:p>
            <a:pPr>
              <a:spcAft>
                <a:spcPts val="500"/>
              </a:spcAft>
            </a:pPr>
            <a:r>
              <a:rPr sz="1500">
                <a:solidFill>
                  <a:srgbClr val="404040"/>
                </a:solidFill>
                <a:latin typeface="Calibri"/>
              </a:rPr>
              <a:t>•  Cisplatin: intra/inter-strand DNA crosslinks -&gt; DNA-damage response -&gt; apoptosis; resistance at every step (CTR1/SLC31A1 uptake, ABC efflux, DNA repair, apoptosis).</a:t>
            </a:r>
          </a:p>
          <a:p>
            <a:pPr>
              <a:spcAft>
                <a:spcPts val="500"/>
              </a:spcAft>
            </a:pPr>
            <a:r>
              <a:rPr sz="1500">
                <a:solidFill>
                  <a:srgbClr val="404040"/>
                </a:solidFill>
                <a:latin typeface="Calibri"/>
              </a:rPr>
              <a:t>•  EMT and ECM remodelling: CDH1 (E-cadherin) and EpCAM loss; collagen and MMP up-regulation; CDH1 promoter hypermethylation; reduced miR-29.</a:t>
            </a:r>
          </a:p>
          <a:p>
            <a:pPr>
              <a:spcAft>
                <a:spcPts val="500"/>
              </a:spcAft>
            </a:pPr>
            <a:r>
              <a:rPr sz="1500">
                <a:solidFill>
                  <a:srgbClr val="404040"/>
                </a:solidFill>
                <a:latin typeface="Calibri"/>
              </a:rPr>
              <a:t>•  Epigenetics: DNA-methylation drivers of acquired resistance; KDM5 histone demethylases maintain a drug-tolerant state.</a:t>
            </a:r>
          </a:p>
          <a:p>
            <a:pPr>
              <a:spcAft>
                <a:spcPts val="500"/>
              </a:spcAft>
            </a:pPr>
            <a:r>
              <a:rPr sz="1500">
                <a:solidFill>
                  <a:srgbClr val="404040"/>
                </a:solidFill>
                <a:latin typeface="Calibri"/>
              </a:rPr>
              <a:t>•  Metabolic rewiring: targetable de novo pyrimidine dependency in platinum-resistant disease (underpins the OVCAR5 model).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652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5200"/>
            <a:ext cx="12192000" cy="63500"/>
          </a:xfrm>
          <a:prstGeom prst="rect">
            <a:avLst/>
          </a:prstGeom>
          <a:solidFill>
            <a:srgbClr val="2E9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1000" y="127000"/>
            <a:ext cx="11430000" cy="736600"/>
          </a:xfrm>
          <a:prstGeom prst="rect">
            <a:avLst/>
          </a:prstGeom>
          <a:noFill/>
        </p:spPr>
        <p:txBody>
          <a:bodyPr wrap="square" anchor="t">
            <a:spAutoFit/>
          </a:bodyPr>
          <a:lstStyle/>
          <a:p>
            <a:pPr algn="l"/>
            <a:r>
              <a:rPr sz="2600" b="1">
                <a:solidFill>
                  <a:srgbClr val="FFFFFF"/>
                </a:solidFill>
                <a:latin typeface="Calibri"/>
              </a:rPr>
              <a:t>Literature Review (cont.)</a:t>
            </a:r>
          </a:p>
        </p:txBody>
      </p:sp>
      <p:sp>
        <p:nvSpPr>
          <p:cNvPr id="5" name="Rectangle 4"/>
          <p:cNvSpPr/>
          <p:nvPr/>
        </p:nvSpPr>
        <p:spPr>
          <a:xfrm>
            <a:off x="381000" y="6502400"/>
            <a:ext cx="11430000" cy="12700"/>
          </a:xfrm>
          <a:prstGeom prst="rect">
            <a:avLst/>
          </a:prstGeom>
          <a:solidFill>
            <a:srgbClr val="D2D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1000" y="6515100"/>
            <a:ext cx="9144000" cy="279400"/>
          </a:xfrm>
          <a:prstGeom prst="rect">
            <a:avLst/>
          </a:prstGeom>
          <a:noFill/>
        </p:spPr>
        <p:txBody>
          <a:bodyPr wrap="square" anchor="t">
            <a:spAutoFit/>
          </a:bodyPr>
          <a:lstStyle/>
          <a:p>
            <a:pPr algn="l"/>
            <a:r>
              <a:rPr sz="1000" b="0">
                <a:solidFill>
                  <a:srgbClr val="828A96"/>
                </a:solidFill>
                <a:latin typeface="Calibri"/>
              </a:rPr>
              <a:t>Transcriptomic Profiling of Drug-Resistant Cancer Cells</a:t>
            </a:r>
          </a:p>
        </p:txBody>
      </p:sp>
      <p:sp>
        <p:nvSpPr>
          <p:cNvPr id="7" name="TextBox 6"/>
          <p:cNvSpPr txBox="1"/>
          <p:nvPr/>
        </p:nvSpPr>
        <p:spPr>
          <a:xfrm>
            <a:off x="11303000" y="6515100"/>
            <a:ext cx="508000" cy="279400"/>
          </a:xfrm>
          <a:prstGeom prst="rect">
            <a:avLst/>
          </a:prstGeom>
          <a:noFill/>
        </p:spPr>
        <p:txBody>
          <a:bodyPr wrap="square" anchor="t">
            <a:spAutoFit/>
          </a:bodyPr>
          <a:lstStyle/>
          <a:p>
            <a:pPr algn="r"/>
            <a:r>
              <a:rPr sz="1000" b="0">
                <a:solidFill>
                  <a:srgbClr val="828A96"/>
                </a:solidFill>
                <a:latin typeface="Calibri"/>
              </a:rPr>
              <a:t>6</a:t>
            </a:r>
          </a:p>
        </p:txBody>
      </p:sp>
      <p:sp>
        <p:nvSpPr>
          <p:cNvPr id="8" name="TextBox 7"/>
          <p:cNvSpPr txBox="1"/>
          <p:nvPr/>
        </p:nvSpPr>
        <p:spPr>
          <a:xfrm>
            <a:off x="762000" y="1460500"/>
            <a:ext cx="10668000" cy="4889500"/>
          </a:xfrm>
          <a:prstGeom prst="rect">
            <a:avLst/>
          </a:prstGeom>
          <a:noFill/>
        </p:spPr>
        <p:txBody>
          <a:bodyPr wrap="square">
            <a:spAutoFit/>
          </a:bodyPr>
          <a:lstStyle/>
          <a:p>
            <a:pPr>
              <a:spcAft>
                <a:spcPts val="500"/>
              </a:spcAft>
            </a:pPr>
            <a:r>
              <a:rPr sz="1500">
                <a:solidFill>
                  <a:srgbClr val="404040"/>
                </a:solidFill>
                <a:latin typeface="Calibri"/>
              </a:rPr>
              <a:t>Emerging themes and gap</a:t>
            </a:r>
          </a:p>
          <a:p>
            <a:pPr>
              <a:spcAft>
                <a:spcPts val="500"/>
              </a:spcAft>
            </a:pPr>
            <a:r>
              <a:rPr sz="1500">
                <a:solidFill>
                  <a:srgbClr val="404040"/>
                </a:solidFill>
                <a:latin typeface="Calibri"/>
              </a:rPr>
              <a:t>•  Inflammation / immune evasion: IL1A-IL1B inflammasome activation; tryptophan-kynurenine axis (KYNU -&gt; AhR) suppresses anti-tumour immunity.</a:t>
            </a:r>
          </a:p>
          <a:p>
            <a:pPr>
              <a:spcAft>
                <a:spcPts val="500"/>
              </a:spcAft>
            </a:pPr>
            <a:r>
              <a:rPr sz="1500">
                <a:solidFill>
                  <a:srgbClr val="404040"/>
                </a:solidFill>
                <a:latin typeface="Calibri"/>
              </a:rPr>
              <a:t>•  Validated markers: NDRG1 (hub gene; knockdown inhibits resistant SKOV-3 proliferation); SERPINE1 (invasion/metastasis).</a:t>
            </a:r>
          </a:p>
          <a:p>
            <a:pPr>
              <a:spcAft>
                <a:spcPts val="500"/>
              </a:spcAft>
            </a:pPr>
            <a:r>
              <a:rPr sz="1500">
                <a:solidFill>
                  <a:srgbClr val="404040"/>
                </a:solidFill>
                <a:latin typeface="Calibri"/>
              </a:rPr>
              <a:t>•  Convergent pathways: PI3K-Akt, MAPK, focal adhesion / integrin, cadherin, p53.</a:t>
            </a:r>
          </a:p>
          <a:p>
            <a:pPr>
              <a:spcAft>
                <a:spcPts val="500"/>
              </a:spcAft>
            </a:pPr>
            <a:r>
              <a:rPr sz="1500">
                <a:solidFill>
                  <a:srgbClr val="404040"/>
                </a:solidFill>
                <a:latin typeface="Calibri"/>
              </a:rPr>
              <a:t>•  Cross-dataset validation and directional consistency increase confidence; single-dataset signatures are unstable.</a:t>
            </a:r>
          </a:p>
          <a:p>
            <a:pPr>
              <a:spcAft>
                <a:spcPts val="500"/>
              </a:spcAft>
            </a:pPr>
            <a:r>
              <a:rPr sz="1500">
                <a:solidFill>
                  <a:srgbClr val="404040"/>
                </a:solidFill>
                <a:latin typeface="Calibri"/>
              </a:rPr>
              <a:t>•  ML pitfalls: selection bias and preprocessing leakage in n &lt;&lt; p settings.</a:t>
            </a:r>
          </a:p>
          <a:p>
            <a:pPr>
              <a:spcAft>
                <a:spcPts val="500"/>
              </a:spcAft>
            </a:pPr>
            <a:r>
              <a:rPr sz="1500">
                <a:solidFill>
                  <a:srgbClr val="404040"/>
                </a:solidFill>
                <a:latin typeface="Calibri"/>
              </a:rPr>
              <a:t>•  Gap: no single reproducible pipeline combining cross-dataset DEG validation + interpretable enrichment + leakage-controlled ML with honest external reporting.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652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5200"/>
            <a:ext cx="12192000" cy="63500"/>
          </a:xfrm>
          <a:prstGeom prst="rect">
            <a:avLst/>
          </a:prstGeom>
          <a:solidFill>
            <a:srgbClr val="2E9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1000" y="127000"/>
            <a:ext cx="11430000" cy="736600"/>
          </a:xfrm>
          <a:prstGeom prst="rect">
            <a:avLst/>
          </a:prstGeom>
          <a:noFill/>
        </p:spPr>
        <p:txBody>
          <a:bodyPr wrap="square" anchor="t">
            <a:spAutoFit/>
          </a:bodyPr>
          <a:lstStyle/>
          <a:p>
            <a:pPr algn="l"/>
            <a:r>
              <a:rPr sz="2600" b="1">
                <a:solidFill>
                  <a:srgbClr val="FFFFFF"/>
                </a:solidFill>
                <a:latin typeface="Calibri"/>
              </a:rPr>
              <a:t>Methodology - Data Sources</a:t>
            </a:r>
          </a:p>
        </p:txBody>
      </p:sp>
      <p:sp>
        <p:nvSpPr>
          <p:cNvPr id="5" name="Rectangle 4"/>
          <p:cNvSpPr/>
          <p:nvPr/>
        </p:nvSpPr>
        <p:spPr>
          <a:xfrm>
            <a:off x="381000" y="6502400"/>
            <a:ext cx="11430000" cy="12700"/>
          </a:xfrm>
          <a:prstGeom prst="rect">
            <a:avLst/>
          </a:prstGeom>
          <a:solidFill>
            <a:srgbClr val="D2D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1000" y="6515100"/>
            <a:ext cx="9144000" cy="279400"/>
          </a:xfrm>
          <a:prstGeom prst="rect">
            <a:avLst/>
          </a:prstGeom>
          <a:noFill/>
        </p:spPr>
        <p:txBody>
          <a:bodyPr wrap="square" anchor="t">
            <a:spAutoFit/>
          </a:bodyPr>
          <a:lstStyle/>
          <a:p>
            <a:pPr algn="l"/>
            <a:r>
              <a:rPr sz="1000" b="0">
                <a:solidFill>
                  <a:srgbClr val="828A96"/>
                </a:solidFill>
                <a:latin typeface="Calibri"/>
              </a:rPr>
              <a:t>Transcriptomic Profiling of Drug-Resistant Cancer Cells</a:t>
            </a:r>
          </a:p>
        </p:txBody>
      </p:sp>
      <p:sp>
        <p:nvSpPr>
          <p:cNvPr id="7" name="TextBox 6"/>
          <p:cNvSpPr txBox="1"/>
          <p:nvPr/>
        </p:nvSpPr>
        <p:spPr>
          <a:xfrm>
            <a:off x="11303000" y="6515100"/>
            <a:ext cx="508000" cy="279400"/>
          </a:xfrm>
          <a:prstGeom prst="rect">
            <a:avLst/>
          </a:prstGeom>
          <a:noFill/>
        </p:spPr>
        <p:txBody>
          <a:bodyPr wrap="square" anchor="t">
            <a:spAutoFit/>
          </a:bodyPr>
          <a:lstStyle/>
          <a:p>
            <a:pPr algn="r"/>
            <a:r>
              <a:rPr sz="1000" b="0">
                <a:solidFill>
                  <a:srgbClr val="828A96"/>
                </a:solidFill>
                <a:latin typeface="Calibri"/>
              </a:rPr>
              <a:t>7</a:t>
            </a:r>
          </a:p>
        </p:txBody>
      </p:sp>
      <p:graphicFrame>
        <p:nvGraphicFramePr>
          <p:cNvPr id="8" name="Table 7"/>
          <p:cNvGraphicFramePr>
            <a:graphicFrameLocks noGrp="1"/>
          </p:cNvGraphicFramePr>
          <p:nvPr/>
        </p:nvGraphicFramePr>
        <p:xfrm>
          <a:off x="889000" y="1905000"/>
          <a:ext cx="10414000" cy="2286000"/>
        </p:xfrm>
        <a:graphic>
          <a:graphicData uri="http://schemas.openxmlformats.org/drawingml/2006/table">
            <a:tbl>
              <a:tblPr firstRow="1" bandRow="1">
                <a:tableStyleId>{5C22544A-7EE6-4342-B048-85BDC9FD1C3A}</a:tableStyleId>
              </a:tblPr>
              <a:tblGrid>
                <a:gridCol w="3471333"/>
                <a:gridCol w="3471333"/>
                <a:gridCol w="3471334"/>
              </a:tblGrid>
              <a:tr h="457200">
                <a:tc>
                  <a:txBody>
                    <a:bodyPr/>
                    <a:lstStyle/>
                    <a:p>
                      <a:r>
                        <a:rPr sz="1400" b="1">
                          <a:solidFill>
                            <a:srgbClr val="FFFFFF"/>
                          </a:solidFill>
                          <a:latin typeface="Calibri"/>
                        </a:rPr>
                        <a:t>Attribute</a:t>
                      </a:r>
                    </a:p>
                  </a:txBody>
                  <a:tcPr anchor="ctr">
                    <a:solidFill>
                      <a:srgbClr val="1F3864"/>
                    </a:solidFill>
                  </a:tcPr>
                </a:tc>
                <a:tc>
                  <a:txBody>
                    <a:bodyPr/>
                    <a:lstStyle/>
                    <a:p>
                      <a:r>
                        <a:rPr sz="1400" b="1">
                          <a:solidFill>
                            <a:srgbClr val="FFFFFF"/>
                          </a:solidFill>
                          <a:latin typeface="Calibri"/>
                        </a:rPr>
                        <a:t>GSE303889 (SKOV-3)</a:t>
                      </a:r>
                    </a:p>
                  </a:txBody>
                  <a:tcPr anchor="ctr">
                    <a:solidFill>
                      <a:srgbClr val="1F3864"/>
                    </a:solidFill>
                  </a:tcPr>
                </a:tc>
                <a:tc>
                  <a:txBody>
                    <a:bodyPr/>
                    <a:lstStyle/>
                    <a:p>
                      <a:r>
                        <a:rPr sz="1400" b="1">
                          <a:solidFill>
                            <a:srgbClr val="FFFFFF"/>
                          </a:solidFill>
                          <a:latin typeface="Calibri"/>
                        </a:rPr>
                        <a:t>GSE283381 (OVCAR5)</a:t>
                      </a:r>
                    </a:p>
                  </a:txBody>
                  <a:tcPr anchor="ctr">
                    <a:solidFill>
                      <a:srgbClr val="1F3864"/>
                    </a:solidFill>
                  </a:tcPr>
                </a:tc>
              </a:tr>
              <a:tr h="457200">
                <a:tc>
                  <a:txBody>
                    <a:bodyPr/>
                    <a:lstStyle/>
                    <a:p>
                      <a:r>
                        <a:rPr sz="1400" b="0">
                          <a:solidFill>
                            <a:srgbClr val="404040"/>
                          </a:solidFill>
                          <a:latin typeface="Calibri"/>
                        </a:rPr>
                        <a:t>Resistance model</a:t>
                      </a:r>
                    </a:p>
                  </a:txBody>
                  <a:tcPr anchor="ctr">
                    <a:solidFill>
                      <a:srgbClr val="FFFFFF"/>
                    </a:solidFill>
                  </a:tcPr>
                </a:tc>
                <a:tc>
                  <a:txBody>
                    <a:bodyPr/>
                    <a:lstStyle/>
                    <a:p>
                      <a:r>
                        <a:rPr sz="1400" b="0">
                          <a:solidFill>
                            <a:srgbClr val="404040"/>
                          </a:solidFill>
                          <a:latin typeface="Calibri"/>
                        </a:rPr>
                        <a:t>CDDP (chronic cisplatin; KDM5)</a:t>
                      </a:r>
                    </a:p>
                  </a:txBody>
                  <a:tcPr anchor="ctr">
                    <a:solidFill>
                      <a:srgbClr val="FFFFFF"/>
                    </a:solidFill>
                  </a:tcPr>
                </a:tc>
                <a:tc>
                  <a:txBody>
                    <a:bodyPr/>
                    <a:lstStyle/>
                    <a:p>
                      <a:r>
                        <a:rPr sz="1400" b="0">
                          <a:solidFill>
                            <a:srgbClr val="404040"/>
                          </a:solidFill>
                          <a:latin typeface="Calibri"/>
                        </a:rPr>
                        <a:t>Cis-R (repeated; pyrimidine dep.)</a:t>
                      </a:r>
                    </a:p>
                  </a:txBody>
                  <a:tcPr anchor="ctr">
                    <a:solidFill>
                      <a:srgbClr val="FFFFFF"/>
                    </a:solidFill>
                  </a:tcPr>
                </a:tc>
              </a:tr>
              <a:tr h="457200">
                <a:tc>
                  <a:txBody>
                    <a:bodyPr/>
                    <a:lstStyle/>
                    <a:p>
                      <a:r>
                        <a:rPr sz="1400" b="0">
                          <a:solidFill>
                            <a:srgbClr val="404040"/>
                          </a:solidFill>
                          <a:latin typeface="Calibri"/>
                        </a:rPr>
                        <a:t>Groups</a:t>
                      </a:r>
                    </a:p>
                  </a:txBody>
                  <a:tcPr anchor="ctr">
                    <a:solidFill>
                      <a:srgbClr val="F0F4F8"/>
                    </a:solidFill>
                  </a:tcPr>
                </a:tc>
                <a:tc>
                  <a:txBody>
                    <a:bodyPr/>
                    <a:lstStyle/>
                    <a:p>
                      <a:r>
                        <a:rPr sz="1400" b="0">
                          <a:solidFill>
                            <a:srgbClr val="404040"/>
                          </a:solidFill>
                          <a:latin typeface="Calibri"/>
                        </a:rPr>
                        <a:t>3 sensitive vs 3 resistant</a:t>
                      </a:r>
                    </a:p>
                  </a:txBody>
                  <a:tcPr anchor="ctr">
                    <a:solidFill>
                      <a:srgbClr val="F0F4F8"/>
                    </a:solidFill>
                  </a:tcPr>
                </a:tc>
                <a:tc>
                  <a:txBody>
                    <a:bodyPr/>
                    <a:lstStyle/>
                    <a:p>
                      <a:r>
                        <a:rPr sz="1400" b="0">
                          <a:solidFill>
                            <a:srgbClr val="404040"/>
                          </a:solidFill>
                          <a:latin typeface="Calibri"/>
                        </a:rPr>
                        <a:t>3 sensitive vs 3 resistant</a:t>
                      </a:r>
                    </a:p>
                  </a:txBody>
                  <a:tcPr anchor="ctr">
                    <a:solidFill>
                      <a:srgbClr val="F0F4F8"/>
                    </a:solidFill>
                  </a:tcPr>
                </a:tc>
              </a:tr>
              <a:tr h="457200">
                <a:tc>
                  <a:txBody>
                    <a:bodyPr/>
                    <a:lstStyle/>
                    <a:p>
                      <a:r>
                        <a:rPr sz="1400" b="0">
                          <a:solidFill>
                            <a:srgbClr val="404040"/>
                          </a:solidFill>
                          <a:latin typeface="Calibri"/>
                        </a:rPr>
                        <a:t>Platform</a:t>
                      </a:r>
                    </a:p>
                  </a:txBody>
                  <a:tcPr anchor="ctr">
                    <a:solidFill>
                      <a:srgbClr val="FFFFFF"/>
                    </a:solidFill>
                  </a:tcPr>
                </a:tc>
                <a:tc>
                  <a:txBody>
                    <a:bodyPr/>
                    <a:lstStyle/>
                    <a:p>
                      <a:r>
                        <a:rPr sz="1400" b="0">
                          <a:solidFill>
                            <a:srgbClr val="404040"/>
                          </a:solidFill>
                          <a:latin typeface="Calibri"/>
                        </a:rPr>
                        <a:t>Illumina NovaSeq 6000</a:t>
                      </a:r>
                    </a:p>
                  </a:txBody>
                  <a:tcPr anchor="ctr">
                    <a:solidFill>
                      <a:srgbClr val="FFFFFF"/>
                    </a:solidFill>
                  </a:tcPr>
                </a:tc>
                <a:tc>
                  <a:txBody>
                    <a:bodyPr/>
                    <a:lstStyle/>
                    <a:p>
                      <a:r>
                        <a:rPr sz="1400" b="0">
                          <a:solidFill>
                            <a:srgbClr val="404040"/>
                          </a:solidFill>
                          <a:latin typeface="Calibri"/>
                        </a:rPr>
                        <a:t>Illumina NextSeq 500</a:t>
                      </a:r>
                    </a:p>
                  </a:txBody>
                  <a:tcPr anchor="ctr">
                    <a:solidFill>
                      <a:srgbClr val="FFFFFF"/>
                    </a:solidFill>
                  </a:tcPr>
                </a:tc>
              </a:tr>
              <a:tr h="457200">
                <a:tc>
                  <a:txBody>
                    <a:bodyPr/>
                    <a:lstStyle/>
                    <a:p>
                      <a:r>
                        <a:rPr sz="1400" b="0">
                          <a:solidFill>
                            <a:srgbClr val="404040"/>
                          </a:solidFill>
                          <a:latin typeface="Calibri"/>
                        </a:rPr>
                        <a:t>Samples</a:t>
                      </a:r>
                    </a:p>
                  </a:txBody>
                  <a:tcPr anchor="ctr">
                    <a:solidFill>
                      <a:srgbClr val="F0F4F8"/>
                    </a:solidFill>
                  </a:tcPr>
                </a:tc>
                <a:tc>
                  <a:txBody>
                    <a:bodyPr/>
                    <a:lstStyle/>
                    <a:p>
                      <a:r>
                        <a:rPr sz="1400" b="0">
                          <a:solidFill>
                            <a:srgbClr val="404040"/>
                          </a:solidFill>
                          <a:latin typeface="Calibri"/>
                        </a:rPr>
                        <a:t>6</a:t>
                      </a:r>
                    </a:p>
                  </a:txBody>
                  <a:tcPr anchor="ctr">
                    <a:solidFill>
                      <a:srgbClr val="F0F4F8"/>
                    </a:solidFill>
                  </a:tcPr>
                </a:tc>
                <a:tc>
                  <a:txBody>
                    <a:bodyPr/>
                    <a:lstStyle/>
                    <a:p>
                      <a:r>
                        <a:rPr sz="1400" b="0">
                          <a:solidFill>
                            <a:srgbClr val="404040"/>
                          </a:solidFill>
                          <a:latin typeface="Calibri"/>
                        </a:rPr>
                        <a:t>6</a:t>
                      </a:r>
                    </a:p>
                  </a:txBody>
                  <a:tcPr anchor="ctr">
                    <a:solidFill>
                      <a:srgbClr val="F0F4F8"/>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652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5200"/>
            <a:ext cx="12192000" cy="63500"/>
          </a:xfrm>
          <a:prstGeom prst="rect">
            <a:avLst/>
          </a:prstGeom>
          <a:solidFill>
            <a:srgbClr val="2E9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1000" y="127000"/>
            <a:ext cx="11430000" cy="736600"/>
          </a:xfrm>
          <a:prstGeom prst="rect">
            <a:avLst/>
          </a:prstGeom>
          <a:noFill/>
        </p:spPr>
        <p:txBody>
          <a:bodyPr wrap="square" anchor="t">
            <a:spAutoFit/>
          </a:bodyPr>
          <a:lstStyle/>
          <a:p>
            <a:pPr algn="l"/>
            <a:r>
              <a:rPr sz="2600" b="1">
                <a:solidFill>
                  <a:srgbClr val="FFFFFF"/>
                </a:solidFill>
                <a:latin typeface="Calibri"/>
              </a:rPr>
              <a:t>Methodology - Pipeline</a:t>
            </a:r>
          </a:p>
        </p:txBody>
      </p:sp>
      <p:sp>
        <p:nvSpPr>
          <p:cNvPr id="5" name="Rectangle 4"/>
          <p:cNvSpPr/>
          <p:nvPr/>
        </p:nvSpPr>
        <p:spPr>
          <a:xfrm>
            <a:off x="381000" y="6502400"/>
            <a:ext cx="11430000" cy="12700"/>
          </a:xfrm>
          <a:prstGeom prst="rect">
            <a:avLst/>
          </a:prstGeom>
          <a:solidFill>
            <a:srgbClr val="D2D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1000" y="6515100"/>
            <a:ext cx="9144000" cy="279400"/>
          </a:xfrm>
          <a:prstGeom prst="rect">
            <a:avLst/>
          </a:prstGeom>
          <a:noFill/>
        </p:spPr>
        <p:txBody>
          <a:bodyPr wrap="square" anchor="t">
            <a:spAutoFit/>
          </a:bodyPr>
          <a:lstStyle/>
          <a:p>
            <a:pPr algn="l"/>
            <a:r>
              <a:rPr sz="1000" b="0">
                <a:solidFill>
                  <a:srgbClr val="828A96"/>
                </a:solidFill>
                <a:latin typeface="Calibri"/>
              </a:rPr>
              <a:t>Transcriptomic Profiling of Drug-Resistant Cancer Cells</a:t>
            </a:r>
          </a:p>
        </p:txBody>
      </p:sp>
      <p:sp>
        <p:nvSpPr>
          <p:cNvPr id="7" name="TextBox 6"/>
          <p:cNvSpPr txBox="1"/>
          <p:nvPr/>
        </p:nvSpPr>
        <p:spPr>
          <a:xfrm>
            <a:off x="11303000" y="6515100"/>
            <a:ext cx="508000" cy="279400"/>
          </a:xfrm>
          <a:prstGeom prst="rect">
            <a:avLst/>
          </a:prstGeom>
          <a:noFill/>
        </p:spPr>
        <p:txBody>
          <a:bodyPr wrap="square" anchor="t">
            <a:spAutoFit/>
          </a:bodyPr>
          <a:lstStyle/>
          <a:p>
            <a:pPr algn="r"/>
            <a:r>
              <a:rPr sz="1000" b="0">
                <a:solidFill>
                  <a:srgbClr val="828A96"/>
                </a:solidFill>
                <a:latin typeface="Calibri"/>
              </a:rPr>
              <a:t>8</a:t>
            </a:r>
          </a:p>
        </p:txBody>
      </p:sp>
      <p:sp>
        <p:nvSpPr>
          <p:cNvPr id="8" name="TextBox 7"/>
          <p:cNvSpPr txBox="1"/>
          <p:nvPr/>
        </p:nvSpPr>
        <p:spPr>
          <a:xfrm>
            <a:off x="762000" y="1422400"/>
            <a:ext cx="10668000" cy="4953000"/>
          </a:xfrm>
          <a:prstGeom prst="rect">
            <a:avLst/>
          </a:prstGeom>
          <a:noFill/>
        </p:spPr>
        <p:txBody>
          <a:bodyPr wrap="square">
            <a:spAutoFit/>
          </a:bodyPr>
          <a:lstStyle/>
          <a:p>
            <a:pPr>
              <a:spcAft>
                <a:spcPts val="500"/>
              </a:spcAft>
            </a:pPr>
            <a:r>
              <a:rPr sz="1500">
                <a:solidFill>
                  <a:srgbClr val="404040"/>
                </a:solidFill>
                <a:latin typeface="Calibri"/>
              </a:rPr>
              <a:t>Preprocessing and QC</a:t>
            </a:r>
          </a:p>
          <a:p>
            <a:pPr>
              <a:spcAft>
                <a:spcPts val="500"/>
              </a:spcAft>
            </a:pPr>
            <a:r>
              <a:rPr sz="1500">
                <a:solidFill>
                  <a:srgbClr val="404040"/>
                </a:solidFill>
                <a:latin typeface="Calibri"/>
              </a:rPr>
              <a:t>•  Gene-level counts + metadata per dataset; low-count filter rowSums &gt;= 10; DESeq2 size-factor normalisation; log2(CPM + 1).</a:t>
            </a:r>
          </a:p>
          <a:p>
            <a:pPr>
              <a:spcAft>
                <a:spcPts val="500"/>
              </a:spcAft>
            </a:pPr>
            <a:r>
              <a:rPr sz="1500">
                <a:solidFill>
                  <a:srgbClr val="404040"/>
                </a:solidFill>
                <a:latin typeface="Calibri"/>
              </a:rPr>
              <a:t>•  Duplicate symbols collapsed (rowsum); datasets intersected -&gt; 57,357 shared genes x 12 samples; PCA / clustering QC; seed 42.</a:t>
            </a:r>
          </a:p>
          <a:p>
            <a:pPr>
              <a:spcAft>
                <a:spcPts val="500"/>
              </a:spcAft>
            </a:pPr>
            <a:r>
              <a:rPr sz="1500">
                <a:solidFill>
                  <a:srgbClr val="404040"/>
                </a:solidFill>
                <a:latin typeface="Calibri"/>
              </a:rPr>
              <a:t>Differential expression</a:t>
            </a:r>
          </a:p>
          <a:p>
            <a:pPr>
              <a:spcAft>
                <a:spcPts val="500"/>
              </a:spcAft>
            </a:pPr>
            <a:r>
              <a:rPr sz="1500">
                <a:solidFill>
                  <a:srgbClr val="404040"/>
                </a:solidFill>
                <a:latin typeface="Calibri"/>
              </a:rPr>
              <a:t>•  DESeq2, design ~ condition, negative-binomial GLM, Wald test; sensitive = reference.</a:t>
            </a:r>
          </a:p>
          <a:p>
            <a:pPr>
              <a:spcAft>
                <a:spcPts val="500"/>
              </a:spcAft>
            </a:pPr>
            <a:r>
              <a:rPr sz="1500">
                <a:solidFill>
                  <a:srgbClr val="404040"/>
                </a:solidFill>
                <a:latin typeface="Calibri"/>
              </a:rPr>
              <a:t>•  Significance: BH FDR &lt; 0.05 and |log2 fold change| &gt; 1.</a:t>
            </a:r>
          </a:p>
          <a:p>
            <a:pPr>
              <a:spcAft>
                <a:spcPts val="500"/>
              </a:spcAft>
            </a:pPr>
            <a:r>
              <a:rPr sz="1500">
                <a:solidFill>
                  <a:srgbClr val="404040"/>
                </a:solidFill>
                <a:latin typeface="Calibri"/>
              </a:rPr>
              <a:t>Cross-dataset and enrichment</a:t>
            </a:r>
          </a:p>
          <a:p>
            <a:pPr>
              <a:spcAft>
                <a:spcPts val="500"/>
              </a:spcAft>
            </a:pPr>
            <a:r>
              <a:rPr sz="1500">
                <a:solidFill>
                  <a:srgbClr val="404040"/>
                </a:solidFill>
                <a:latin typeface="Calibri"/>
              </a:rPr>
              <a:t>•  Intersect DEG sets -&gt; up / down / mixed; Spearman correlation of shared log2FC.</a:t>
            </a:r>
          </a:p>
          <a:p>
            <a:pPr>
              <a:spcAft>
                <a:spcPts val="500"/>
              </a:spcAft>
            </a:pPr>
            <a:r>
              <a:rPr sz="1500">
                <a:solidFill>
                  <a:srgbClr val="404040"/>
                </a:solidFill>
                <a:latin typeface="Calibri"/>
              </a:rPr>
              <a:t>•  clusterProfiler enrichGO (BP) and enrichKEGG (hsa), BH-adjusted p &lt; 0.05.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652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5200"/>
            <a:ext cx="12192000" cy="63500"/>
          </a:xfrm>
          <a:prstGeom prst="rect">
            <a:avLst/>
          </a:prstGeom>
          <a:solidFill>
            <a:srgbClr val="2E9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1000" y="127000"/>
            <a:ext cx="11430000" cy="736600"/>
          </a:xfrm>
          <a:prstGeom prst="rect">
            <a:avLst/>
          </a:prstGeom>
          <a:noFill/>
        </p:spPr>
        <p:txBody>
          <a:bodyPr wrap="square" anchor="t">
            <a:spAutoFit/>
          </a:bodyPr>
          <a:lstStyle/>
          <a:p>
            <a:pPr algn="l"/>
            <a:r>
              <a:rPr sz="2600" b="1">
                <a:solidFill>
                  <a:srgbClr val="FFFFFF"/>
                </a:solidFill>
                <a:latin typeface="Calibri"/>
              </a:rPr>
              <a:t>Methodology - Machine Learning</a:t>
            </a:r>
          </a:p>
        </p:txBody>
      </p:sp>
      <p:sp>
        <p:nvSpPr>
          <p:cNvPr id="5" name="Rectangle 4"/>
          <p:cNvSpPr/>
          <p:nvPr/>
        </p:nvSpPr>
        <p:spPr>
          <a:xfrm>
            <a:off x="381000" y="6502400"/>
            <a:ext cx="11430000" cy="12700"/>
          </a:xfrm>
          <a:prstGeom prst="rect">
            <a:avLst/>
          </a:prstGeom>
          <a:solidFill>
            <a:srgbClr val="D2D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1000" y="6515100"/>
            <a:ext cx="9144000" cy="279400"/>
          </a:xfrm>
          <a:prstGeom prst="rect">
            <a:avLst/>
          </a:prstGeom>
          <a:noFill/>
        </p:spPr>
        <p:txBody>
          <a:bodyPr wrap="square" anchor="t">
            <a:spAutoFit/>
          </a:bodyPr>
          <a:lstStyle/>
          <a:p>
            <a:pPr algn="l"/>
            <a:r>
              <a:rPr sz="1000" b="0">
                <a:solidFill>
                  <a:srgbClr val="828A96"/>
                </a:solidFill>
                <a:latin typeface="Calibri"/>
              </a:rPr>
              <a:t>Transcriptomic Profiling of Drug-Resistant Cancer Cells</a:t>
            </a:r>
          </a:p>
        </p:txBody>
      </p:sp>
      <p:sp>
        <p:nvSpPr>
          <p:cNvPr id="7" name="TextBox 6"/>
          <p:cNvSpPr txBox="1"/>
          <p:nvPr/>
        </p:nvSpPr>
        <p:spPr>
          <a:xfrm>
            <a:off x="11303000" y="6515100"/>
            <a:ext cx="508000" cy="279400"/>
          </a:xfrm>
          <a:prstGeom prst="rect">
            <a:avLst/>
          </a:prstGeom>
          <a:noFill/>
        </p:spPr>
        <p:txBody>
          <a:bodyPr wrap="square" anchor="t">
            <a:spAutoFit/>
          </a:bodyPr>
          <a:lstStyle/>
          <a:p>
            <a:pPr algn="r"/>
            <a:r>
              <a:rPr sz="1000" b="0">
                <a:solidFill>
                  <a:srgbClr val="828A96"/>
                </a:solidFill>
                <a:latin typeface="Calibri"/>
              </a:rPr>
              <a:t>9</a:t>
            </a:r>
          </a:p>
        </p:txBody>
      </p:sp>
      <p:sp>
        <p:nvSpPr>
          <p:cNvPr id="8" name="TextBox 7"/>
          <p:cNvSpPr txBox="1"/>
          <p:nvPr/>
        </p:nvSpPr>
        <p:spPr>
          <a:xfrm>
            <a:off x="762000" y="1397000"/>
            <a:ext cx="10668000" cy="4978400"/>
          </a:xfrm>
          <a:prstGeom prst="rect">
            <a:avLst/>
          </a:prstGeom>
          <a:noFill/>
        </p:spPr>
        <p:txBody>
          <a:bodyPr wrap="square">
            <a:spAutoFit/>
          </a:bodyPr>
          <a:lstStyle/>
          <a:p>
            <a:pPr>
              <a:spcAft>
                <a:spcPts val="500"/>
              </a:spcAft>
            </a:pPr>
            <a:r>
              <a:rPr sz="1500">
                <a:solidFill>
                  <a:srgbClr val="404040"/>
                </a:solidFill>
                <a:latin typeface="Calibri"/>
              </a:rPr>
              <a:t>Feature matrix and models</a:t>
            </a:r>
          </a:p>
          <a:p>
            <a:pPr>
              <a:spcAft>
                <a:spcPts val="500"/>
              </a:spcAft>
            </a:pPr>
            <a:r>
              <a:rPr sz="1500">
                <a:solidFill>
                  <a:srgbClr val="404040"/>
                </a:solidFill>
                <a:latin typeface="Calibri"/>
              </a:rPr>
              <a:t>•  Full 57,357-gene matrix (log2 CPM + 1), 12 samples; no DEG pre-filtering (avoids test leakage).</a:t>
            </a:r>
          </a:p>
          <a:p>
            <a:pPr>
              <a:spcAft>
                <a:spcPts val="500"/>
              </a:spcAft>
            </a:pPr>
            <a:r>
              <a:rPr sz="1500">
                <a:solidFill>
                  <a:srgbClr val="404040"/>
                </a:solidFill>
                <a:latin typeface="Calibri"/>
              </a:rPr>
              <a:t>•  Ridge logistic regression (glmnet), random forest (ranger, min.node.size = 1), radial SVM (e1071).</a:t>
            </a:r>
          </a:p>
          <a:p>
            <a:pPr>
              <a:spcAft>
                <a:spcPts val="500"/>
              </a:spcAft>
            </a:pPr>
            <a:r>
              <a:rPr sz="1500">
                <a:solidFill>
                  <a:srgbClr val="404040"/>
                </a:solidFill>
                <a:latin typeface="Calibri"/>
              </a:rPr>
              <a:t>Validation and leakage control</a:t>
            </a:r>
          </a:p>
          <a:p>
            <a:pPr>
              <a:spcAft>
                <a:spcPts val="500"/>
              </a:spcAft>
            </a:pPr>
            <a:r>
              <a:rPr sz="1500">
                <a:solidFill>
                  <a:srgbClr val="404040"/>
                </a:solidFill>
                <a:latin typeface="Calibri"/>
              </a:rPr>
              <a:t>•  Within-cell-line LOOCV (5 train / 1 test); cross-dataset external (train one line, predict the other).</a:t>
            </a:r>
          </a:p>
          <a:p>
            <a:pPr>
              <a:spcAft>
                <a:spcPts val="500"/>
              </a:spcAft>
            </a:pPr>
            <a:r>
              <a:rPr sz="1500">
                <a:solidFill>
                  <a:srgbClr val="404040"/>
                </a:solidFill>
                <a:latin typeface="Calibri"/>
              </a:rPr>
              <a:t>•  Feature selection nested inside each training fold (top-K by |t-statistic|, K in {20,50,100,200,500}).</a:t>
            </a:r>
          </a:p>
          <a:p>
            <a:pPr>
              <a:spcAft>
                <a:spcPts val="500"/>
              </a:spcAft>
            </a:pPr>
            <a:r>
              <a:rPr sz="1500">
                <a:solidFill>
                  <a:srgbClr val="404040"/>
                </a:solidFill>
                <a:latin typeface="Calibri"/>
              </a:rPr>
              <a:t>•  Test normalisation: target_z (batch-corrected) vs train_stats (strictly non-transductive, leak-free).</a:t>
            </a:r>
          </a:p>
          <a:p>
            <a:pPr>
              <a:spcAft>
                <a:spcPts val="500"/>
              </a:spcAft>
            </a:pPr>
            <a:r>
              <a:rPr sz="1500">
                <a:solidFill>
                  <a:srgbClr val="404040"/>
                </a:solidFill>
                <a:latin typeface="Calibri"/>
              </a:rPr>
              <a:t>Metrics and reproducibility</a:t>
            </a:r>
          </a:p>
          <a:p>
            <a:pPr>
              <a:spcAft>
                <a:spcPts val="500"/>
              </a:spcAft>
            </a:pPr>
            <a:r>
              <a:rPr sz="1500">
                <a:solidFill>
                  <a:srgbClr val="404040"/>
                </a:solidFill>
                <a:latin typeface="Calibri"/>
              </a:rPr>
              <a:t>•  Accuracy, precision, recall, F1, ROC-AUC; biomarkers ranked by cross-model selection frequency.</a:t>
            </a:r>
          </a:p>
          <a:p>
            <a:pPr>
              <a:spcAft>
                <a:spcPts val="500"/>
              </a:spcAft>
            </a:pPr>
            <a:r>
              <a:rPr sz="1500">
                <a:solidFill>
                  <a:srgbClr val="404040"/>
                </a:solidFill>
                <a:latin typeface="Calibri"/>
              </a:rPr>
              <a:t>•  R pipeline + FastAPI dashboard; deterministic (two runs byte-identical).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652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5200"/>
            <a:ext cx="12192000" cy="63500"/>
          </a:xfrm>
          <a:prstGeom prst="rect">
            <a:avLst/>
          </a:prstGeom>
          <a:solidFill>
            <a:srgbClr val="2E9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1000" y="127000"/>
            <a:ext cx="11430000" cy="736600"/>
          </a:xfrm>
          <a:prstGeom prst="rect">
            <a:avLst/>
          </a:prstGeom>
          <a:noFill/>
        </p:spPr>
        <p:txBody>
          <a:bodyPr wrap="square" anchor="t">
            <a:spAutoFit/>
          </a:bodyPr>
          <a:lstStyle/>
          <a:p>
            <a:pPr algn="l"/>
            <a:r>
              <a:rPr sz="2600" b="1">
                <a:solidFill>
                  <a:srgbClr val="FFFFFF"/>
                </a:solidFill>
                <a:latin typeface="Calibri"/>
              </a:rPr>
              <a:t>Analysis - Dataset 1 (SKOV-3)</a:t>
            </a:r>
          </a:p>
        </p:txBody>
      </p:sp>
      <p:sp>
        <p:nvSpPr>
          <p:cNvPr id="5" name="Rectangle 4"/>
          <p:cNvSpPr/>
          <p:nvPr/>
        </p:nvSpPr>
        <p:spPr>
          <a:xfrm>
            <a:off x="381000" y="6502400"/>
            <a:ext cx="11430000" cy="12700"/>
          </a:xfrm>
          <a:prstGeom prst="rect">
            <a:avLst/>
          </a:prstGeom>
          <a:solidFill>
            <a:srgbClr val="D2D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1000" y="6515100"/>
            <a:ext cx="9144000" cy="279400"/>
          </a:xfrm>
          <a:prstGeom prst="rect">
            <a:avLst/>
          </a:prstGeom>
          <a:noFill/>
        </p:spPr>
        <p:txBody>
          <a:bodyPr wrap="square" anchor="t">
            <a:spAutoFit/>
          </a:bodyPr>
          <a:lstStyle/>
          <a:p>
            <a:pPr algn="l"/>
            <a:r>
              <a:rPr sz="1000" b="0">
                <a:solidFill>
                  <a:srgbClr val="828A96"/>
                </a:solidFill>
                <a:latin typeface="Calibri"/>
              </a:rPr>
              <a:t>Transcriptomic Profiling of Drug-Resistant Cancer Cells</a:t>
            </a:r>
          </a:p>
        </p:txBody>
      </p:sp>
      <p:sp>
        <p:nvSpPr>
          <p:cNvPr id="7" name="TextBox 6"/>
          <p:cNvSpPr txBox="1"/>
          <p:nvPr/>
        </p:nvSpPr>
        <p:spPr>
          <a:xfrm>
            <a:off x="11303000" y="6515100"/>
            <a:ext cx="508000" cy="279400"/>
          </a:xfrm>
          <a:prstGeom prst="rect">
            <a:avLst/>
          </a:prstGeom>
          <a:noFill/>
        </p:spPr>
        <p:txBody>
          <a:bodyPr wrap="square" anchor="t">
            <a:spAutoFit/>
          </a:bodyPr>
          <a:lstStyle/>
          <a:p>
            <a:pPr algn="r"/>
            <a:r>
              <a:rPr sz="1000" b="0">
                <a:solidFill>
                  <a:srgbClr val="828A96"/>
                </a:solidFill>
                <a:latin typeface="Calibri"/>
              </a:rPr>
              <a:t>10</a:t>
            </a:r>
          </a:p>
        </p:txBody>
      </p:sp>
      <p:sp>
        <p:nvSpPr>
          <p:cNvPr id="8" name="TextBox 7"/>
          <p:cNvSpPr txBox="1"/>
          <p:nvPr/>
        </p:nvSpPr>
        <p:spPr>
          <a:xfrm>
            <a:off x="508000" y="1498600"/>
            <a:ext cx="5461000" cy="4762500"/>
          </a:xfrm>
          <a:prstGeom prst="rect">
            <a:avLst/>
          </a:prstGeom>
          <a:noFill/>
        </p:spPr>
        <p:txBody>
          <a:bodyPr wrap="square">
            <a:spAutoFit/>
          </a:bodyPr>
          <a:lstStyle/>
          <a:p>
            <a:pPr>
              <a:spcAft>
                <a:spcPts val="500"/>
              </a:spcAft>
            </a:pPr>
            <a:r>
              <a:rPr sz="1500">
                <a:solidFill>
                  <a:srgbClr val="404040"/>
                </a:solidFill>
                <a:latin typeface="Calibri"/>
              </a:rPr>
              <a:t>•  GSE303889: SKOV-3 parental vs CDDP-resistant (KDM5-associated).</a:t>
            </a:r>
          </a:p>
          <a:p>
            <a:pPr>
              <a:spcAft>
                <a:spcPts val="500"/>
              </a:spcAft>
            </a:pPr>
            <a:r>
              <a:rPr sz="1500">
                <a:solidFill>
                  <a:srgbClr val="404040"/>
                </a:solidFill>
                <a:latin typeface="Calibri"/>
              </a:rPr>
              <a:t>•  Genes tested: 22,372</a:t>
            </a:r>
          </a:p>
          <a:p>
            <a:pPr>
              <a:spcAft>
                <a:spcPts val="500"/>
              </a:spcAft>
            </a:pPr>
            <a:r>
              <a:rPr sz="1500">
                <a:solidFill>
                  <a:srgbClr val="404040"/>
                </a:solidFill>
                <a:latin typeface="Calibri"/>
              </a:rPr>
              <a:t>•  Significant DEGs: 5,212  (2,983 up / 2,229 down).</a:t>
            </a:r>
          </a:p>
          <a:p>
            <a:pPr>
              <a:spcAft>
                <a:spcPts val="500"/>
              </a:spcAft>
            </a:pPr>
            <a:r>
              <a:rPr sz="1500">
                <a:solidFill>
                  <a:srgbClr val="404040"/>
                </a:solidFill>
                <a:latin typeface="Calibri"/>
              </a:rPr>
              <a:t>•  Broad dispersion of up- and down-regulated genes -&gt; extensive reprogramming.</a:t>
            </a:r>
          </a:p>
          <a:p>
            <a:pPr>
              <a:spcAft>
                <a:spcPts val="500"/>
              </a:spcAft>
            </a:pPr>
            <a:r>
              <a:rPr sz="1500">
                <a:solidFill>
                  <a:srgbClr val="404040"/>
                </a:solidFill>
                <a:latin typeface="Calibri"/>
              </a:rPr>
              <a:t>•  Heatmap separates sensitive vs resistant replicates cleanly.</a:t>
            </a:r>
          </a:p>
          <a:p>
            <a:pPr>
              <a:spcAft>
                <a:spcPts val="500"/>
              </a:spcAft>
            </a:pPr>
            <a:r>
              <a:rPr sz="1500">
                <a:solidFill>
                  <a:srgbClr val="404040"/>
                </a:solidFill>
                <a:latin typeface="Calibri"/>
              </a:rPr>
              <a:t>•  CDH1 (E-cadherin) down among top changes -&gt; EMT-like shift.</a:t>
            </a:r>
          </a:p>
        </p:txBody>
      </p:sp>
      <p:pic>
        <p:nvPicPr>
          <p:cNvPr id="9" name="Picture 8" descr="volcano_plot.png"/>
          <p:cNvPicPr>
            <a:picLocks noChangeAspect="1"/>
          </p:cNvPicPr>
          <p:nvPr/>
        </p:nvPicPr>
        <p:blipFill>
          <a:blip r:embed="rId2"/>
          <a:stretch>
            <a:fillRect/>
          </a:stretch>
        </p:blipFill>
        <p:spPr>
          <a:xfrm>
            <a:off x="6350000" y="1397000"/>
            <a:ext cx="5461000" cy="409575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652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5200"/>
            <a:ext cx="12192000" cy="63500"/>
          </a:xfrm>
          <a:prstGeom prst="rect">
            <a:avLst/>
          </a:prstGeom>
          <a:solidFill>
            <a:srgbClr val="2E9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1000" y="127000"/>
            <a:ext cx="11430000" cy="736600"/>
          </a:xfrm>
          <a:prstGeom prst="rect">
            <a:avLst/>
          </a:prstGeom>
          <a:noFill/>
        </p:spPr>
        <p:txBody>
          <a:bodyPr wrap="square" anchor="t">
            <a:spAutoFit/>
          </a:bodyPr>
          <a:lstStyle/>
          <a:p>
            <a:pPr algn="l"/>
            <a:r>
              <a:rPr sz="2600" b="1">
                <a:solidFill>
                  <a:srgbClr val="FFFFFF"/>
                </a:solidFill>
                <a:latin typeface="Calibri"/>
              </a:rPr>
              <a:t>Analysis - Dataset 2 (OVCAR5)</a:t>
            </a:r>
          </a:p>
        </p:txBody>
      </p:sp>
      <p:sp>
        <p:nvSpPr>
          <p:cNvPr id="5" name="Rectangle 4"/>
          <p:cNvSpPr/>
          <p:nvPr/>
        </p:nvSpPr>
        <p:spPr>
          <a:xfrm>
            <a:off x="381000" y="6502400"/>
            <a:ext cx="11430000" cy="12700"/>
          </a:xfrm>
          <a:prstGeom prst="rect">
            <a:avLst/>
          </a:prstGeom>
          <a:solidFill>
            <a:srgbClr val="D2D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1000" y="6515100"/>
            <a:ext cx="9144000" cy="279400"/>
          </a:xfrm>
          <a:prstGeom prst="rect">
            <a:avLst/>
          </a:prstGeom>
          <a:noFill/>
        </p:spPr>
        <p:txBody>
          <a:bodyPr wrap="square" anchor="t">
            <a:spAutoFit/>
          </a:bodyPr>
          <a:lstStyle/>
          <a:p>
            <a:pPr algn="l"/>
            <a:r>
              <a:rPr sz="1000" b="0">
                <a:solidFill>
                  <a:srgbClr val="828A96"/>
                </a:solidFill>
                <a:latin typeface="Calibri"/>
              </a:rPr>
              <a:t>Transcriptomic Profiling of Drug-Resistant Cancer Cells</a:t>
            </a:r>
          </a:p>
        </p:txBody>
      </p:sp>
      <p:sp>
        <p:nvSpPr>
          <p:cNvPr id="7" name="TextBox 6"/>
          <p:cNvSpPr txBox="1"/>
          <p:nvPr/>
        </p:nvSpPr>
        <p:spPr>
          <a:xfrm>
            <a:off x="11303000" y="6515100"/>
            <a:ext cx="508000" cy="279400"/>
          </a:xfrm>
          <a:prstGeom prst="rect">
            <a:avLst/>
          </a:prstGeom>
          <a:noFill/>
        </p:spPr>
        <p:txBody>
          <a:bodyPr wrap="square" anchor="t">
            <a:spAutoFit/>
          </a:bodyPr>
          <a:lstStyle/>
          <a:p>
            <a:pPr algn="r"/>
            <a:r>
              <a:rPr sz="1000" b="0">
                <a:solidFill>
                  <a:srgbClr val="828A96"/>
                </a:solidFill>
                <a:latin typeface="Calibri"/>
              </a:rPr>
              <a:t>11</a:t>
            </a:r>
          </a:p>
        </p:txBody>
      </p:sp>
      <p:sp>
        <p:nvSpPr>
          <p:cNvPr id="8" name="TextBox 7"/>
          <p:cNvSpPr txBox="1"/>
          <p:nvPr/>
        </p:nvSpPr>
        <p:spPr>
          <a:xfrm>
            <a:off x="508000" y="1498600"/>
            <a:ext cx="5461000" cy="4762500"/>
          </a:xfrm>
          <a:prstGeom prst="rect">
            <a:avLst/>
          </a:prstGeom>
          <a:noFill/>
        </p:spPr>
        <p:txBody>
          <a:bodyPr wrap="square">
            <a:spAutoFit/>
          </a:bodyPr>
          <a:lstStyle/>
          <a:p>
            <a:pPr>
              <a:spcAft>
                <a:spcPts val="500"/>
              </a:spcAft>
            </a:pPr>
            <a:r>
              <a:rPr sz="1500">
                <a:solidFill>
                  <a:srgbClr val="404040"/>
                </a:solidFill>
                <a:latin typeface="Calibri"/>
              </a:rPr>
              <a:t>•  GSE283381: OVCAR5 Cis-S vs Cis-R (de novo pyrimidine dependency).</a:t>
            </a:r>
          </a:p>
          <a:p>
            <a:pPr>
              <a:spcAft>
                <a:spcPts val="500"/>
              </a:spcAft>
            </a:pPr>
            <a:r>
              <a:rPr sz="1500">
                <a:solidFill>
                  <a:srgbClr val="404040"/>
                </a:solidFill>
                <a:latin typeface="Calibri"/>
              </a:rPr>
              <a:t>•  Genes tested: 20,959</a:t>
            </a:r>
          </a:p>
          <a:p>
            <a:pPr>
              <a:spcAft>
                <a:spcPts val="500"/>
              </a:spcAft>
            </a:pPr>
            <a:r>
              <a:rPr sz="1500">
                <a:solidFill>
                  <a:srgbClr val="404040"/>
                </a:solidFill>
                <a:latin typeface="Calibri"/>
              </a:rPr>
              <a:t>•  Significant DEGs: 2,572  (912 up / 1,660 down).</a:t>
            </a:r>
          </a:p>
          <a:p>
            <a:pPr>
              <a:spcAft>
                <a:spcPts val="500"/>
              </a:spcAft>
            </a:pPr>
            <a:r>
              <a:rPr sz="1500">
                <a:solidFill>
                  <a:srgbClr val="404040"/>
                </a:solidFill>
                <a:latin typeface="Calibri"/>
              </a:rPr>
              <a:t>•  Top up-regulated genes include IL1A and IL1B (large log2FC) -&gt; inflammatory component.</a:t>
            </a:r>
          </a:p>
          <a:p>
            <a:pPr>
              <a:spcAft>
                <a:spcPts val="500"/>
              </a:spcAft>
            </a:pPr>
            <a:r>
              <a:rPr sz="1500">
                <a:solidFill>
                  <a:srgbClr val="404040"/>
                </a:solidFill>
                <a:latin typeface="Calibri"/>
              </a:rPr>
              <a:t>•  Magnitude and composition differ from Dataset 1 (distinct resistance mechanism).</a:t>
            </a:r>
          </a:p>
        </p:txBody>
      </p:sp>
      <p:pic>
        <p:nvPicPr>
          <p:cNvPr id="9" name="Picture 8" descr="volcano_plot.png"/>
          <p:cNvPicPr>
            <a:picLocks noChangeAspect="1"/>
          </p:cNvPicPr>
          <p:nvPr/>
        </p:nvPicPr>
        <p:blipFill>
          <a:blip r:embed="rId2"/>
          <a:stretch>
            <a:fillRect/>
          </a:stretch>
        </p:blipFill>
        <p:spPr>
          <a:xfrm>
            <a:off x="6350000" y="1397000"/>
            <a:ext cx="5461000" cy="409575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652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5200"/>
            <a:ext cx="12192000" cy="63500"/>
          </a:xfrm>
          <a:prstGeom prst="rect">
            <a:avLst/>
          </a:prstGeom>
          <a:solidFill>
            <a:srgbClr val="2E9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1000" y="127000"/>
            <a:ext cx="11430000" cy="736600"/>
          </a:xfrm>
          <a:prstGeom prst="rect">
            <a:avLst/>
          </a:prstGeom>
          <a:noFill/>
        </p:spPr>
        <p:txBody>
          <a:bodyPr wrap="square" anchor="t">
            <a:spAutoFit/>
          </a:bodyPr>
          <a:lstStyle/>
          <a:p>
            <a:pPr algn="l"/>
            <a:r>
              <a:rPr sz="2600" b="1">
                <a:solidFill>
                  <a:srgbClr val="FFFFFF"/>
                </a:solidFill>
                <a:latin typeface="Calibri"/>
              </a:rPr>
              <a:t>Analysis - Cross-Dataset Overlap</a:t>
            </a:r>
          </a:p>
        </p:txBody>
      </p:sp>
      <p:sp>
        <p:nvSpPr>
          <p:cNvPr id="5" name="Rectangle 4"/>
          <p:cNvSpPr/>
          <p:nvPr/>
        </p:nvSpPr>
        <p:spPr>
          <a:xfrm>
            <a:off x="381000" y="6502400"/>
            <a:ext cx="11430000" cy="12700"/>
          </a:xfrm>
          <a:prstGeom prst="rect">
            <a:avLst/>
          </a:prstGeom>
          <a:solidFill>
            <a:srgbClr val="D2D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1000" y="6515100"/>
            <a:ext cx="9144000" cy="279400"/>
          </a:xfrm>
          <a:prstGeom prst="rect">
            <a:avLst/>
          </a:prstGeom>
          <a:noFill/>
        </p:spPr>
        <p:txBody>
          <a:bodyPr wrap="square" anchor="t">
            <a:spAutoFit/>
          </a:bodyPr>
          <a:lstStyle/>
          <a:p>
            <a:pPr algn="l"/>
            <a:r>
              <a:rPr sz="1000" b="0">
                <a:solidFill>
                  <a:srgbClr val="828A96"/>
                </a:solidFill>
                <a:latin typeface="Calibri"/>
              </a:rPr>
              <a:t>Transcriptomic Profiling of Drug-Resistant Cancer Cells</a:t>
            </a:r>
          </a:p>
        </p:txBody>
      </p:sp>
      <p:sp>
        <p:nvSpPr>
          <p:cNvPr id="7" name="TextBox 6"/>
          <p:cNvSpPr txBox="1"/>
          <p:nvPr/>
        </p:nvSpPr>
        <p:spPr>
          <a:xfrm>
            <a:off x="11303000" y="6515100"/>
            <a:ext cx="508000" cy="279400"/>
          </a:xfrm>
          <a:prstGeom prst="rect">
            <a:avLst/>
          </a:prstGeom>
          <a:noFill/>
        </p:spPr>
        <p:txBody>
          <a:bodyPr wrap="square" anchor="t">
            <a:spAutoFit/>
          </a:bodyPr>
          <a:lstStyle/>
          <a:p>
            <a:pPr algn="r"/>
            <a:r>
              <a:rPr sz="1000" b="0">
                <a:solidFill>
                  <a:srgbClr val="828A96"/>
                </a:solidFill>
                <a:latin typeface="Calibri"/>
              </a:rPr>
              <a:t>12</a:t>
            </a:r>
          </a:p>
        </p:txBody>
      </p:sp>
      <p:sp>
        <p:nvSpPr>
          <p:cNvPr id="8" name="TextBox 7"/>
          <p:cNvSpPr txBox="1"/>
          <p:nvPr/>
        </p:nvSpPr>
        <p:spPr>
          <a:xfrm>
            <a:off x="508000" y="1498600"/>
            <a:ext cx="5461000" cy="4762500"/>
          </a:xfrm>
          <a:prstGeom prst="rect">
            <a:avLst/>
          </a:prstGeom>
          <a:noFill/>
        </p:spPr>
        <p:txBody>
          <a:bodyPr wrap="square">
            <a:spAutoFit/>
          </a:bodyPr>
          <a:lstStyle/>
          <a:p>
            <a:pPr>
              <a:spcAft>
                <a:spcPts val="500"/>
              </a:spcAft>
            </a:pPr>
            <a:r>
              <a:rPr sz="1500">
                <a:solidFill>
                  <a:srgbClr val="404040"/>
                </a:solidFill>
                <a:latin typeface="Calibri"/>
              </a:rPr>
              <a:t>•  913 genes differentially expressed in BOTH datasets (core signature).</a:t>
            </a:r>
          </a:p>
          <a:p>
            <a:pPr lvl="1">
              <a:spcAft>
                <a:spcPts val="500"/>
              </a:spcAft>
            </a:pPr>
            <a:r>
              <a:rPr sz="1300">
                <a:solidFill>
                  <a:srgbClr val="505050"/>
                </a:solidFill>
                <a:latin typeface="Calibri"/>
              </a:rPr>
              <a:t>-  198 up in both; 220 down in both; 495 opposite direction.</a:t>
            </a:r>
          </a:p>
          <a:p>
            <a:pPr>
              <a:spcAft>
                <a:spcPts val="500"/>
              </a:spcAft>
            </a:pPr>
            <a:r>
              <a:rPr sz="1500">
                <a:solidFill>
                  <a:srgbClr val="404040"/>
                </a:solidFill>
                <a:latin typeface="Calibri"/>
              </a:rPr>
              <a:t>•  Consistently regulated genes define a background-independent signature.</a:t>
            </a:r>
          </a:p>
          <a:p>
            <a:pPr>
              <a:spcAft>
                <a:spcPts val="500"/>
              </a:spcAft>
            </a:pPr>
            <a:r>
              <a:rPr sz="1500">
                <a:solidFill>
                  <a:srgbClr val="404040"/>
                </a:solidFill>
                <a:latin typeface="Calibri"/>
              </a:rPr>
              <a:t>•  Spearman correlation of shared log2FC ~ -0.04.</a:t>
            </a:r>
          </a:p>
          <a:p>
            <a:pPr>
              <a:spcAft>
                <a:spcPts val="500"/>
              </a:spcAft>
            </a:pPr>
            <a:r>
              <a:rPr sz="1500">
                <a:solidFill>
                  <a:srgbClr val="404040"/>
                </a:solidFill>
                <a:latin typeface="Calibri"/>
              </a:rPr>
              <a:t>•  Low correlation is biologically meaningful: the two models acquire resistance through different programmes.</a:t>
            </a:r>
          </a:p>
        </p:txBody>
      </p:sp>
      <p:pic>
        <p:nvPicPr>
          <p:cNvPr id="9" name="Picture 8" descr="venn_diagram.png"/>
          <p:cNvPicPr>
            <a:picLocks noChangeAspect="1"/>
          </p:cNvPicPr>
          <p:nvPr/>
        </p:nvPicPr>
        <p:blipFill>
          <a:blip r:embed="rId2"/>
          <a:stretch>
            <a:fillRect/>
          </a:stretch>
        </p:blipFill>
        <p:spPr>
          <a:xfrm>
            <a:off x="6223000" y="1333500"/>
            <a:ext cx="3386666" cy="2540000"/>
          </a:xfrm>
          <a:prstGeom prst="rect">
            <a:avLst/>
          </a:prstGeom>
        </p:spPr>
      </p:pic>
      <p:pic>
        <p:nvPicPr>
          <p:cNvPr id="10" name="Picture 9" descr="lfc_correlation.png"/>
          <p:cNvPicPr>
            <a:picLocks noChangeAspect="1"/>
          </p:cNvPicPr>
          <p:nvPr/>
        </p:nvPicPr>
        <p:blipFill>
          <a:blip r:embed="rId3"/>
          <a:stretch>
            <a:fillRect/>
          </a:stretch>
        </p:blipFill>
        <p:spPr>
          <a:xfrm>
            <a:off x="6223000" y="3873500"/>
            <a:ext cx="3217333" cy="2413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652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5200"/>
            <a:ext cx="12192000" cy="63500"/>
          </a:xfrm>
          <a:prstGeom prst="rect">
            <a:avLst/>
          </a:prstGeom>
          <a:solidFill>
            <a:srgbClr val="2E9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1000" y="127000"/>
            <a:ext cx="11430000" cy="736600"/>
          </a:xfrm>
          <a:prstGeom prst="rect">
            <a:avLst/>
          </a:prstGeom>
          <a:noFill/>
        </p:spPr>
        <p:txBody>
          <a:bodyPr wrap="square" anchor="t">
            <a:spAutoFit/>
          </a:bodyPr>
          <a:lstStyle/>
          <a:p>
            <a:pPr algn="l"/>
            <a:r>
              <a:rPr sz="2600" b="1">
                <a:solidFill>
                  <a:srgbClr val="FFFFFF"/>
                </a:solidFill>
                <a:latin typeface="Calibri"/>
              </a:rPr>
              <a:t>Analysis - Functional Enrichment</a:t>
            </a:r>
          </a:p>
        </p:txBody>
      </p:sp>
      <p:sp>
        <p:nvSpPr>
          <p:cNvPr id="5" name="Rectangle 4"/>
          <p:cNvSpPr/>
          <p:nvPr/>
        </p:nvSpPr>
        <p:spPr>
          <a:xfrm>
            <a:off x="381000" y="6502400"/>
            <a:ext cx="11430000" cy="12700"/>
          </a:xfrm>
          <a:prstGeom prst="rect">
            <a:avLst/>
          </a:prstGeom>
          <a:solidFill>
            <a:srgbClr val="D2D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1000" y="6515100"/>
            <a:ext cx="9144000" cy="279400"/>
          </a:xfrm>
          <a:prstGeom prst="rect">
            <a:avLst/>
          </a:prstGeom>
          <a:noFill/>
        </p:spPr>
        <p:txBody>
          <a:bodyPr wrap="square" anchor="t">
            <a:spAutoFit/>
          </a:bodyPr>
          <a:lstStyle/>
          <a:p>
            <a:pPr algn="l"/>
            <a:r>
              <a:rPr sz="1000" b="0">
                <a:solidFill>
                  <a:srgbClr val="828A96"/>
                </a:solidFill>
                <a:latin typeface="Calibri"/>
              </a:rPr>
              <a:t>Transcriptomic Profiling of Drug-Resistant Cancer Cells</a:t>
            </a:r>
          </a:p>
        </p:txBody>
      </p:sp>
      <p:sp>
        <p:nvSpPr>
          <p:cNvPr id="7" name="TextBox 6"/>
          <p:cNvSpPr txBox="1"/>
          <p:nvPr/>
        </p:nvSpPr>
        <p:spPr>
          <a:xfrm>
            <a:off x="11303000" y="6515100"/>
            <a:ext cx="508000" cy="279400"/>
          </a:xfrm>
          <a:prstGeom prst="rect">
            <a:avLst/>
          </a:prstGeom>
          <a:noFill/>
        </p:spPr>
        <p:txBody>
          <a:bodyPr wrap="square" anchor="t">
            <a:spAutoFit/>
          </a:bodyPr>
          <a:lstStyle/>
          <a:p>
            <a:pPr algn="r"/>
            <a:r>
              <a:rPr sz="1000" b="0">
                <a:solidFill>
                  <a:srgbClr val="828A96"/>
                </a:solidFill>
                <a:latin typeface="Calibri"/>
              </a:rPr>
              <a:t>13</a:t>
            </a:r>
          </a:p>
        </p:txBody>
      </p:sp>
      <p:sp>
        <p:nvSpPr>
          <p:cNvPr id="8" name="TextBox 7"/>
          <p:cNvSpPr txBox="1"/>
          <p:nvPr/>
        </p:nvSpPr>
        <p:spPr>
          <a:xfrm>
            <a:off x="508000" y="1498600"/>
            <a:ext cx="5080000" cy="4762500"/>
          </a:xfrm>
          <a:prstGeom prst="rect">
            <a:avLst/>
          </a:prstGeom>
          <a:noFill/>
        </p:spPr>
        <p:txBody>
          <a:bodyPr wrap="square">
            <a:spAutoFit/>
          </a:bodyPr>
          <a:lstStyle/>
          <a:p>
            <a:pPr>
              <a:spcAft>
                <a:spcPts val="500"/>
              </a:spcAft>
            </a:pPr>
            <a:r>
              <a:rPr sz="1500">
                <a:solidFill>
                  <a:srgbClr val="404040"/>
                </a:solidFill>
                <a:latin typeface="Calibri"/>
              </a:rPr>
              <a:t>GO (shared DEGs)</a:t>
            </a:r>
          </a:p>
          <a:p>
            <a:pPr>
              <a:spcAft>
                <a:spcPts val="500"/>
              </a:spcAft>
            </a:pPr>
            <a:r>
              <a:rPr sz="1500">
                <a:solidFill>
                  <a:srgbClr val="404040"/>
                </a:solidFill>
                <a:latin typeface="Calibri"/>
              </a:rPr>
              <a:t>•  Cell-substrate adhesion; extracellular matrix organisation; extracellular structure organisation; ossification; axon guidance.</a:t>
            </a:r>
          </a:p>
          <a:p>
            <a:pPr>
              <a:spcAft>
                <a:spcPts val="500"/>
              </a:spcAft>
            </a:pPr>
            <a:r>
              <a:rPr sz="1500">
                <a:solidFill>
                  <a:srgbClr val="404040"/>
                </a:solidFill>
                <a:latin typeface="Calibri"/>
              </a:rPr>
              <a:t>KEGG (shared DEGs)</a:t>
            </a:r>
          </a:p>
          <a:p>
            <a:pPr>
              <a:spcAft>
                <a:spcPts val="500"/>
              </a:spcAft>
            </a:pPr>
            <a:r>
              <a:rPr sz="1500">
                <a:solidFill>
                  <a:srgbClr val="404040"/>
                </a:solidFill>
                <a:latin typeface="Calibri"/>
              </a:rPr>
              <a:t>•  PI3K-Akt signalling; focal adhesion / integrin; cadherin signalling; cytoskeleton / ECM-receptor interaction; Hippo signalling.</a:t>
            </a:r>
          </a:p>
          <a:p>
            <a:pPr>
              <a:spcAft>
                <a:spcPts val="500"/>
              </a:spcAft>
            </a:pPr>
            <a:r>
              <a:rPr sz="1500">
                <a:solidFill>
                  <a:srgbClr val="404040"/>
                </a:solidFill>
                <a:latin typeface="Calibri"/>
              </a:rPr>
              <a:t>•  ECM, adhesion, survival and cytoskeletal remodelling converge on resistance -- hallmark of EMT.</a:t>
            </a:r>
          </a:p>
        </p:txBody>
      </p:sp>
      <p:pic>
        <p:nvPicPr>
          <p:cNvPr id="9" name="Picture 8" descr="GO_dotplot_Shared_DEGs.png"/>
          <p:cNvPicPr>
            <a:picLocks noChangeAspect="1"/>
          </p:cNvPicPr>
          <p:nvPr/>
        </p:nvPicPr>
        <p:blipFill>
          <a:blip r:embed="rId2"/>
          <a:stretch>
            <a:fillRect/>
          </a:stretch>
        </p:blipFill>
        <p:spPr>
          <a:xfrm>
            <a:off x="5461000" y="1270000"/>
            <a:ext cx="3302000" cy="3962400"/>
          </a:xfrm>
          <a:prstGeom prst="rect">
            <a:avLst/>
          </a:prstGeom>
        </p:spPr>
      </p:pic>
      <p:pic>
        <p:nvPicPr>
          <p:cNvPr id="10" name="Picture 9" descr="KEGG_dotplot_Shared_DEGs.png"/>
          <p:cNvPicPr>
            <a:picLocks noChangeAspect="1"/>
          </p:cNvPicPr>
          <p:nvPr/>
        </p:nvPicPr>
        <p:blipFill>
          <a:blip r:embed="rId3"/>
          <a:stretch>
            <a:fillRect/>
          </a:stretch>
        </p:blipFill>
        <p:spPr>
          <a:xfrm>
            <a:off x="8890000" y="1270000"/>
            <a:ext cx="3302000" cy="26416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652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5200"/>
            <a:ext cx="12192000" cy="63500"/>
          </a:xfrm>
          <a:prstGeom prst="rect">
            <a:avLst/>
          </a:prstGeom>
          <a:solidFill>
            <a:srgbClr val="2E9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1000" y="127000"/>
            <a:ext cx="11430000" cy="736600"/>
          </a:xfrm>
          <a:prstGeom prst="rect">
            <a:avLst/>
          </a:prstGeom>
          <a:noFill/>
        </p:spPr>
        <p:txBody>
          <a:bodyPr wrap="square" anchor="t">
            <a:spAutoFit/>
          </a:bodyPr>
          <a:lstStyle/>
          <a:p>
            <a:pPr algn="l"/>
            <a:r>
              <a:rPr sz="2600" b="1">
                <a:solidFill>
                  <a:srgbClr val="FFFFFF"/>
                </a:solidFill>
                <a:latin typeface="Calibri"/>
              </a:rPr>
              <a:t>Analysis - Machine Learning</a:t>
            </a:r>
          </a:p>
        </p:txBody>
      </p:sp>
      <p:sp>
        <p:nvSpPr>
          <p:cNvPr id="5" name="Rectangle 4"/>
          <p:cNvSpPr/>
          <p:nvPr/>
        </p:nvSpPr>
        <p:spPr>
          <a:xfrm>
            <a:off x="381000" y="6502400"/>
            <a:ext cx="11430000" cy="12700"/>
          </a:xfrm>
          <a:prstGeom prst="rect">
            <a:avLst/>
          </a:prstGeom>
          <a:solidFill>
            <a:srgbClr val="D2D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1000" y="6515100"/>
            <a:ext cx="9144000" cy="279400"/>
          </a:xfrm>
          <a:prstGeom prst="rect">
            <a:avLst/>
          </a:prstGeom>
          <a:noFill/>
        </p:spPr>
        <p:txBody>
          <a:bodyPr wrap="square" anchor="t">
            <a:spAutoFit/>
          </a:bodyPr>
          <a:lstStyle/>
          <a:p>
            <a:pPr algn="l"/>
            <a:r>
              <a:rPr sz="1000" b="0">
                <a:solidFill>
                  <a:srgbClr val="828A96"/>
                </a:solidFill>
                <a:latin typeface="Calibri"/>
              </a:rPr>
              <a:t>Transcriptomic Profiling of Drug-Resistant Cancer Cells</a:t>
            </a:r>
          </a:p>
        </p:txBody>
      </p:sp>
      <p:sp>
        <p:nvSpPr>
          <p:cNvPr id="7" name="TextBox 6"/>
          <p:cNvSpPr txBox="1"/>
          <p:nvPr/>
        </p:nvSpPr>
        <p:spPr>
          <a:xfrm>
            <a:off x="11303000" y="6515100"/>
            <a:ext cx="508000" cy="279400"/>
          </a:xfrm>
          <a:prstGeom prst="rect">
            <a:avLst/>
          </a:prstGeom>
          <a:noFill/>
        </p:spPr>
        <p:txBody>
          <a:bodyPr wrap="square" anchor="t">
            <a:spAutoFit/>
          </a:bodyPr>
          <a:lstStyle/>
          <a:p>
            <a:pPr algn="r"/>
            <a:r>
              <a:rPr sz="1000" b="0">
                <a:solidFill>
                  <a:srgbClr val="828A96"/>
                </a:solidFill>
                <a:latin typeface="Calibri"/>
              </a:rPr>
              <a:t>14</a:t>
            </a:r>
          </a:p>
        </p:txBody>
      </p:sp>
      <p:sp>
        <p:nvSpPr>
          <p:cNvPr id="8" name="TextBox 7"/>
          <p:cNvSpPr txBox="1"/>
          <p:nvPr/>
        </p:nvSpPr>
        <p:spPr>
          <a:xfrm>
            <a:off x="508000" y="1498600"/>
            <a:ext cx="5461000" cy="4762500"/>
          </a:xfrm>
          <a:prstGeom prst="rect">
            <a:avLst/>
          </a:prstGeom>
          <a:noFill/>
        </p:spPr>
        <p:txBody>
          <a:bodyPr wrap="square">
            <a:spAutoFit/>
          </a:bodyPr>
          <a:lstStyle/>
          <a:p>
            <a:pPr>
              <a:spcAft>
                <a:spcPts val="500"/>
              </a:spcAft>
            </a:pPr>
            <a:r>
              <a:rPr sz="1500">
                <a:solidFill>
                  <a:srgbClr val="404040"/>
                </a:solidFill>
                <a:latin typeface="Calibri"/>
              </a:rPr>
              <a:t>•  Within-cell-line LOOCV: Accuracy 0.833-1.000, ROC-AUC 0.889-1.000.</a:t>
            </a:r>
          </a:p>
          <a:p>
            <a:pPr lvl="1">
              <a:spcAft>
                <a:spcPts val="500"/>
              </a:spcAft>
            </a:pPr>
            <a:r>
              <a:rPr sz="1300">
                <a:solidFill>
                  <a:srgbClr val="505050"/>
                </a:solidFill>
                <a:latin typeface="Calibri"/>
              </a:rPr>
              <a:t>-  Near-complete separation, but likely optimistic (cell-line background is highly separable).</a:t>
            </a:r>
          </a:p>
          <a:p>
            <a:pPr>
              <a:spcAft>
                <a:spcPts val="500"/>
              </a:spcAft>
            </a:pPr>
            <a:r>
              <a:rPr sz="1500">
                <a:solidFill>
                  <a:srgbClr val="404040"/>
                </a:solidFill>
                <a:latin typeface="Calibri"/>
              </a:rPr>
              <a:t>•  External, target_z (batch-corrected):</a:t>
            </a:r>
          </a:p>
          <a:p>
            <a:pPr lvl="1">
              <a:spcAft>
                <a:spcPts val="500"/>
              </a:spcAft>
            </a:pPr>
            <a:r>
              <a:rPr sz="1300">
                <a:solidFill>
                  <a:srgbClr val="505050"/>
                </a:solidFill>
                <a:latin typeface="Calibri"/>
              </a:rPr>
              <a:t>-  SKOV3 -&gt; OVCAR5: AUC 1.0 at K = 20-50.</a:t>
            </a:r>
          </a:p>
          <a:p>
            <a:pPr lvl="1">
              <a:spcAft>
                <a:spcPts val="500"/>
              </a:spcAft>
            </a:pPr>
            <a:r>
              <a:rPr sz="1300">
                <a:solidFill>
                  <a:srgbClr val="505050"/>
                </a:solidFill>
                <a:latin typeface="Calibri"/>
              </a:rPr>
              <a:t>-  OVCAR5 -&gt; SKOV3: AUC ~ 0.44-0.78 (near chance).</a:t>
            </a:r>
          </a:p>
          <a:p>
            <a:pPr>
              <a:spcAft>
                <a:spcPts val="500"/>
              </a:spcAft>
            </a:pPr>
            <a:r>
              <a:rPr sz="1500">
                <a:solidFill>
                  <a:srgbClr val="404040"/>
                </a:solidFill>
                <a:latin typeface="Calibri"/>
              </a:rPr>
              <a:t>•  External, train_stats (strict, leak-free): mean AUC 0.61.</a:t>
            </a:r>
          </a:p>
          <a:p>
            <a:pPr>
              <a:spcAft>
                <a:spcPts val="500"/>
              </a:spcAft>
            </a:pPr>
            <a:r>
              <a:rPr sz="1500">
                <a:solidFill>
                  <a:srgbClr val="404040"/>
                </a:solidFill>
                <a:latin typeface="Calibri"/>
              </a:rPr>
              <a:t>•  Transfer is partial, strongly asymmetric, and collapses as K grows (n &lt;&lt; p overfitting).</a:t>
            </a:r>
          </a:p>
        </p:txBody>
      </p:sp>
      <p:pic>
        <p:nvPicPr>
          <p:cNvPr id="9" name="Picture 8" descr="ROC_LOOCV.png"/>
          <p:cNvPicPr>
            <a:picLocks noChangeAspect="1"/>
          </p:cNvPicPr>
          <p:nvPr/>
        </p:nvPicPr>
        <p:blipFill>
          <a:blip r:embed="rId2"/>
          <a:stretch>
            <a:fillRect/>
          </a:stretch>
        </p:blipFill>
        <p:spPr>
          <a:xfrm>
            <a:off x="6223000" y="1333500"/>
            <a:ext cx="3628571" cy="2540000"/>
          </a:xfrm>
          <a:prstGeom prst="rect">
            <a:avLst/>
          </a:prstGeom>
        </p:spPr>
      </p:pic>
      <p:pic>
        <p:nvPicPr>
          <p:cNvPr id="10" name="Picture 9" descr="ROC_external.png"/>
          <p:cNvPicPr>
            <a:picLocks noChangeAspect="1"/>
          </p:cNvPicPr>
          <p:nvPr/>
        </p:nvPicPr>
        <p:blipFill>
          <a:blip r:embed="rId3"/>
          <a:stretch>
            <a:fillRect/>
          </a:stretch>
        </p:blipFill>
        <p:spPr>
          <a:xfrm>
            <a:off x="6223000" y="3873500"/>
            <a:ext cx="3447142" cy="2413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652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5200"/>
            <a:ext cx="12192000" cy="63500"/>
          </a:xfrm>
          <a:prstGeom prst="rect">
            <a:avLst/>
          </a:prstGeom>
          <a:solidFill>
            <a:srgbClr val="2E9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1000" y="127000"/>
            <a:ext cx="11430000" cy="736600"/>
          </a:xfrm>
          <a:prstGeom prst="rect">
            <a:avLst/>
          </a:prstGeom>
          <a:noFill/>
        </p:spPr>
        <p:txBody>
          <a:bodyPr wrap="square" anchor="t">
            <a:spAutoFit/>
          </a:bodyPr>
          <a:lstStyle/>
          <a:p>
            <a:pPr algn="l"/>
            <a:r>
              <a:rPr sz="2600" b="1">
                <a:solidFill>
                  <a:srgbClr val="FFFFFF"/>
                </a:solidFill>
                <a:latin typeface="Calibri"/>
              </a:rPr>
              <a:t>Analysis - Feature Importance</a:t>
            </a:r>
          </a:p>
        </p:txBody>
      </p:sp>
      <p:sp>
        <p:nvSpPr>
          <p:cNvPr id="5" name="Rectangle 4"/>
          <p:cNvSpPr/>
          <p:nvPr/>
        </p:nvSpPr>
        <p:spPr>
          <a:xfrm>
            <a:off x="381000" y="6502400"/>
            <a:ext cx="11430000" cy="12700"/>
          </a:xfrm>
          <a:prstGeom prst="rect">
            <a:avLst/>
          </a:prstGeom>
          <a:solidFill>
            <a:srgbClr val="D2D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1000" y="6515100"/>
            <a:ext cx="9144000" cy="279400"/>
          </a:xfrm>
          <a:prstGeom prst="rect">
            <a:avLst/>
          </a:prstGeom>
          <a:noFill/>
        </p:spPr>
        <p:txBody>
          <a:bodyPr wrap="square" anchor="t">
            <a:spAutoFit/>
          </a:bodyPr>
          <a:lstStyle/>
          <a:p>
            <a:pPr algn="l"/>
            <a:r>
              <a:rPr sz="1000" b="0">
                <a:solidFill>
                  <a:srgbClr val="828A96"/>
                </a:solidFill>
                <a:latin typeface="Calibri"/>
              </a:rPr>
              <a:t>Transcriptomic Profiling of Drug-Resistant Cancer Cells</a:t>
            </a:r>
          </a:p>
        </p:txBody>
      </p:sp>
      <p:sp>
        <p:nvSpPr>
          <p:cNvPr id="7" name="TextBox 6"/>
          <p:cNvSpPr txBox="1"/>
          <p:nvPr/>
        </p:nvSpPr>
        <p:spPr>
          <a:xfrm>
            <a:off x="11303000" y="6515100"/>
            <a:ext cx="508000" cy="279400"/>
          </a:xfrm>
          <a:prstGeom prst="rect">
            <a:avLst/>
          </a:prstGeom>
          <a:noFill/>
        </p:spPr>
        <p:txBody>
          <a:bodyPr wrap="square" anchor="t">
            <a:spAutoFit/>
          </a:bodyPr>
          <a:lstStyle/>
          <a:p>
            <a:pPr algn="r"/>
            <a:r>
              <a:rPr sz="1000" b="0">
                <a:solidFill>
                  <a:srgbClr val="828A96"/>
                </a:solidFill>
                <a:latin typeface="Calibri"/>
              </a:rPr>
              <a:t>15</a:t>
            </a:r>
          </a:p>
        </p:txBody>
      </p:sp>
      <p:sp>
        <p:nvSpPr>
          <p:cNvPr id="8" name="TextBox 7"/>
          <p:cNvSpPr txBox="1"/>
          <p:nvPr/>
        </p:nvSpPr>
        <p:spPr>
          <a:xfrm>
            <a:off x="508000" y="1498600"/>
            <a:ext cx="5461000" cy="4762500"/>
          </a:xfrm>
          <a:prstGeom prst="rect">
            <a:avLst/>
          </a:prstGeom>
          <a:noFill/>
        </p:spPr>
        <p:txBody>
          <a:bodyPr wrap="square">
            <a:spAutoFit/>
          </a:bodyPr>
          <a:lstStyle/>
          <a:p>
            <a:pPr>
              <a:spcAft>
                <a:spcPts val="500"/>
              </a:spcAft>
            </a:pPr>
            <a:r>
              <a:rPr sz="1500">
                <a:solidFill>
                  <a:srgbClr val="404040"/>
                </a:solidFill>
                <a:latin typeface="Calibri"/>
              </a:rPr>
              <a:t>•  Ranked by cross-dataset selection frequency across models x K.</a:t>
            </a:r>
          </a:p>
          <a:p>
            <a:pPr>
              <a:spcAft>
                <a:spcPts val="500"/>
              </a:spcAft>
            </a:pPr>
            <a:r>
              <a:rPr sz="1500">
                <a:solidFill>
                  <a:srgbClr val="404040"/>
                </a:solidFill>
                <a:latin typeface="Calibri"/>
              </a:rPr>
              <a:t>•  Top candidates: MAL2, GALNT6, LDOC1, SH2D4A, FBXL21P, EPB41L3, TMEM218, CALB1, ...</a:t>
            </a:r>
          </a:p>
          <a:p>
            <a:pPr>
              <a:spcAft>
                <a:spcPts val="500"/>
              </a:spcAft>
            </a:pPr>
            <a:r>
              <a:rPr sz="1500">
                <a:solidFill>
                  <a:srgbClr val="404040"/>
                </a:solidFill>
                <a:latin typeface="Calibri"/>
              </a:rPr>
              <a:t>•  MAL2 and GALNT6 most consistently selected, then LDOC1, SH2D4A, FBXL21P.</a:t>
            </a:r>
          </a:p>
          <a:p>
            <a:pPr>
              <a:spcAft>
                <a:spcPts val="500"/>
              </a:spcAft>
            </a:pPr>
            <a:r>
              <a:rPr sz="1500">
                <a:solidFill>
                  <a:srgbClr val="404040"/>
                </a:solidFill>
                <a:latin typeface="Calibri"/>
              </a:rPr>
              <a:t>•  Selection frequency dominated by the SKOV3 -&gt; OVCAR5 direction.</a:t>
            </a:r>
          </a:p>
          <a:p>
            <a:pPr>
              <a:spcAft>
                <a:spcPts val="500"/>
              </a:spcAft>
            </a:pPr>
            <a:r>
              <a:rPr sz="1500">
                <a:solidFill>
                  <a:srgbClr val="404040"/>
                </a:solidFill>
                <a:latin typeface="Calibri"/>
              </a:rPr>
              <a:t>•  Best regarded as candidates for follow-up, not a validated directional signature.</a:t>
            </a:r>
          </a:p>
        </p:txBody>
      </p:sp>
      <p:pic>
        <p:nvPicPr>
          <p:cNvPr id="9" name="Picture 8" descr="feature_importance.png"/>
          <p:cNvPicPr>
            <a:picLocks noChangeAspect="1"/>
          </p:cNvPicPr>
          <p:nvPr/>
        </p:nvPicPr>
        <p:blipFill>
          <a:blip r:embed="rId2"/>
          <a:stretch>
            <a:fillRect/>
          </a:stretch>
        </p:blipFill>
        <p:spPr>
          <a:xfrm>
            <a:off x="6223000" y="1270000"/>
            <a:ext cx="5714999" cy="3636818"/>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652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5200"/>
            <a:ext cx="12192000" cy="63500"/>
          </a:xfrm>
          <a:prstGeom prst="rect">
            <a:avLst/>
          </a:prstGeom>
          <a:solidFill>
            <a:srgbClr val="2E9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1000" y="127000"/>
            <a:ext cx="11430000" cy="736600"/>
          </a:xfrm>
          <a:prstGeom prst="rect">
            <a:avLst/>
          </a:prstGeom>
          <a:noFill/>
        </p:spPr>
        <p:txBody>
          <a:bodyPr wrap="square" anchor="t">
            <a:spAutoFit/>
          </a:bodyPr>
          <a:lstStyle/>
          <a:p>
            <a:pPr algn="l"/>
            <a:r>
              <a:rPr sz="2600" b="1">
                <a:solidFill>
                  <a:srgbClr val="FFFFFF"/>
                </a:solidFill>
                <a:latin typeface="Calibri"/>
              </a:rPr>
              <a:t>Result - Differential Expression Summary</a:t>
            </a:r>
          </a:p>
        </p:txBody>
      </p:sp>
      <p:sp>
        <p:nvSpPr>
          <p:cNvPr id="5" name="Rectangle 4"/>
          <p:cNvSpPr/>
          <p:nvPr/>
        </p:nvSpPr>
        <p:spPr>
          <a:xfrm>
            <a:off x="381000" y="6502400"/>
            <a:ext cx="11430000" cy="12700"/>
          </a:xfrm>
          <a:prstGeom prst="rect">
            <a:avLst/>
          </a:prstGeom>
          <a:solidFill>
            <a:srgbClr val="D2D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1000" y="6515100"/>
            <a:ext cx="9144000" cy="279400"/>
          </a:xfrm>
          <a:prstGeom prst="rect">
            <a:avLst/>
          </a:prstGeom>
          <a:noFill/>
        </p:spPr>
        <p:txBody>
          <a:bodyPr wrap="square" anchor="t">
            <a:spAutoFit/>
          </a:bodyPr>
          <a:lstStyle/>
          <a:p>
            <a:pPr algn="l"/>
            <a:r>
              <a:rPr sz="1000" b="0">
                <a:solidFill>
                  <a:srgbClr val="828A96"/>
                </a:solidFill>
                <a:latin typeface="Calibri"/>
              </a:rPr>
              <a:t>Transcriptomic Profiling of Drug-Resistant Cancer Cells</a:t>
            </a:r>
          </a:p>
        </p:txBody>
      </p:sp>
      <p:sp>
        <p:nvSpPr>
          <p:cNvPr id="7" name="TextBox 6"/>
          <p:cNvSpPr txBox="1"/>
          <p:nvPr/>
        </p:nvSpPr>
        <p:spPr>
          <a:xfrm>
            <a:off x="11303000" y="6515100"/>
            <a:ext cx="508000" cy="279400"/>
          </a:xfrm>
          <a:prstGeom prst="rect">
            <a:avLst/>
          </a:prstGeom>
          <a:noFill/>
        </p:spPr>
        <p:txBody>
          <a:bodyPr wrap="square" anchor="t">
            <a:spAutoFit/>
          </a:bodyPr>
          <a:lstStyle/>
          <a:p>
            <a:pPr algn="r"/>
            <a:r>
              <a:rPr sz="1000" b="0">
                <a:solidFill>
                  <a:srgbClr val="828A96"/>
                </a:solidFill>
                <a:latin typeface="Calibri"/>
              </a:rPr>
              <a:t>16</a:t>
            </a:r>
          </a:p>
        </p:txBody>
      </p:sp>
      <p:graphicFrame>
        <p:nvGraphicFramePr>
          <p:cNvPr id="8" name="Table 7"/>
          <p:cNvGraphicFramePr>
            <a:graphicFrameLocks noGrp="1"/>
          </p:cNvGraphicFramePr>
          <p:nvPr/>
        </p:nvGraphicFramePr>
        <p:xfrm>
          <a:off x="1524000" y="2159000"/>
          <a:ext cx="9144000" cy="1905000"/>
        </p:xfrm>
        <a:graphic>
          <a:graphicData uri="http://schemas.openxmlformats.org/drawingml/2006/table">
            <a:tbl>
              <a:tblPr firstRow="1" bandRow="1">
                <a:tableStyleId>{5C22544A-7EE6-4342-B048-85BDC9FD1C3A}</a:tableStyleId>
              </a:tblPr>
              <a:tblGrid>
                <a:gridCol w="1524000"/>
                <a:gridCol w="1524000"/>
                <a:gridCol w="1524000"/>
                <a:gridCol w="1524000"/>
                <a:gridCol w="1524000"/>
                <a:gridCol w="1524000"/>
              </a:tblGrid>
              <a:tr h="635000">
                <a:tc>
                  <a:txBody>
                    <a:bodyPr/>
                    <a:lstStyle/>
                    <a:p>
                      <a:r>
                        <a:rPr sz="1500" b="1">
                          <a:solidFill>
                            <a:srgbClr val="FFFFFF"/>
                          </a:solidFill>
                          <a:latin typeface="Calibri"/>
                        </a:rPr>
                        <a:t>Dataset</a:t>
                      </a:r>
                    </a:p>
                  </a:txBody>
                  <a:tcPr anchor="ctr">
                    <a:solidFill>
                      <a:srgbClr val="1F3864"/>
                    </a:solidFill>
                  </a:tcPr>
                </a:tc>
                <a:tc>
                  <a:txBody>
                    <a:bodyPr/>
                    <a:lstStyle/>
                    <a:p>
                      <a:r>
                        <a:rPr sz="1500" b="1">
                          <a:solidFill>
                            <a:srgbClr val="FFFFFF"/>
                          </a:solidFill>
                          <a:latin typeface="Calibri"/>
                        </a:rPr>
                        <a:t>Cell line</a:t>
                      </a:r>
                    </a:p>
                  </a:txBody>
                  <a:tcPr anchor="ctr">
                    <a:solidFill>
                      <a:srgbClr val="1F3864"/>
                    </a:solidFill>
                  </a:tcPr>
                </a:tc>
                <a:tc>
                  <a:txBody>
                    <a:bodyPr/>
                    <a:lstStyle/>
                    <a:p>
                      <a:r>
                        <a:rPr sz="1500" b="1">
                          <a:solidFill>
                            <a:srgbClr val="FFFFFF"/>
                          </a:solidFill>
                          <a:latin typeface="Calibri"/>
                        </a:rPr>
                        <a:t>Genes tested</a:t>
                      </a:r>
                    </a:p>
                  </a:txBody>
                  <a:tcPr anchor="ctr">
                    <a:solidFill>
                      <a:srgbClr val="1F3864"/>
                    </a:solidFill>
                  </a:tcPr>
                </a:tc>
                <a:tc>
                  <a:txBody>
                    <a:bodyPr/>
                    <a:lstStyle/>
                    <a:p>
                      <a:r>
                        <a:rPr sz="1500" b="1">
                          <a:solidFill>
                            <a:srgbClr val="FFFFFF"/>
                          </a:solidFill>
                          <a:latin typeface="Calibri"/>
                        </a:rPr>
                        <a:t>Significant DEGs</a:t>
                      </a:r>
                    </a:p>
                  </a:txBody>
                  <a:tcPr anchor="ctr">
                    <a:solidFill>
                      <a:srgbClr val="1F3864"/>
                    </a:solidFill>
                  </a:tcPr>
                </a:tc>
                <a:tc>
                  <a:txBody>
                    <a:bodyPr/>
                    <a:lstStyle/>
                    <a:p>
                      <a:r>
                        <a:rPr sz="1500" b="1">
                          <a:solidFill>
                            <a:srgbClr val="FFFFFF"/>
                          </a:solidFill>
                          <a:latin typeface="Calibri"/>
                        </a:rPr>
                        <a:t>Up</a:t>
                      </a:r>
                    </a:p>
                  </a:txBody>
                  <a:tcPr anchor="ctr">
                    <a:solidFill>
                      <a:srgbClr val="1F3864"/>
                    </a:solidFill>
                  </a:tcPr>
                </a:tc>
                <a:tc>
                  <a:txBody>
                    <a:bodyPr/>
                    <a:lstStyle/>
                    <a:p>
                      <a:r>
                        <a:rPr sz="1500" b="1">
                          <a:solidFill>
                            <a:srgbClr val="FFFFFF"/>
                          </a:solidFill>
                          <a:latin typeface="Calibri"/>
                        </a:rPr>
                        <a:t>Down</a:t>
                      </a:r>
                    </a:p>
                  </a:txBody>
                  <a:tcPr anchor="ctr">
                    <a:solidFill>
                      <a:srgbClr val="1F3864"/>
                    </a:solidFill>
                  </a:tcPr>
                </a:tc>
              </a:tr>
              <a:tr h="635000">
                <a:tc>
                  <a:txBody>
                    <a:bodyPr/>
                    <a:lstStyle/>
                    <a:p>
                      <a:r>
                        <a:rPr sz="1500" b="0">
                          <a:solidFill>
                            <a:srgbClr val="404040"/>
                          </a:solidFill>
                          <a:latin typeface="Calibri"/>
                        </a:rPr>
                        <a:t>GSE303889</a:t>
                      </a:r>
                    </a:p>
                  </a:txBody>
                  <a:tcPr anchor="ctr">
                    <a:solidFill>
                      <a:srgbClr val="FFFFFF"/>
                    </a:solidFill>
                  </a:tcPr>
                </a:tc>
                <a:tc>
                  <a:txBody>
                    <a:bodyPr/>
                    <a:lstStyle/>
                    <a:p>
                      <a:r>
                        <a:rPr sz="1500" b="0">
                          <a:solidFill>
                            <a:srgbClr val="404040"/>
                          </a:solidFill>
                          <a:latin typeface="Calibri"/>
                        </a:rPr>
                        <a:t>SKOV-3</a:t>
                      </a:r>
                    </a:p>
                  </a:txBody>
                  <a:tcPr anchor="ctr">
                    <a:solidFill>
                      <a:srgbClr val="FFFFFF"/>
                    </a:solidFill>
                  </a:tcPr>
                </a:tc>
                <a:tc>
                  <a:txBody>
                    <a:bodyPr/>
                    <a:lstStyle/>
                    <a:p>
                      <a:r>
                        <a:rPr sz="1500" b="0">
                          <a:solidFill>
                            <a:srgbClr val="404040"/>
                          </a:solidFill>
                          <a:latin typeface="Calibri"/>
                        </a:rPr>
                        <a:t>22,372</a:t>
                      </a:r>
                    </a:p>
                  </a:txBody>
                  <a:tcPr anchor="ctr">
                    <a:solidFill>
                      <a:srgbClr val="FFFFFF"/>
                    </a:solidFill>
                  </a:tcPr>
                </a:tc>
                <a:tc>
                  <a:txBody>
                    <a:bodyPr/>
                    <a:lstStyle/>
                    <a:p>
                      <a:r>
                        <a:rPr sz="1500" b="0">
                          <a:solidFill>
                            <a:srgbClr val="404040"/>
                          </a:solidFill>
                          <a:latin typeface="Calibri"/>
                        </a:rPr>
                        <a:t>5,212</a:t>
                      </a:r>
                    </a:p>
                  </a:txBody>
                  <a:tcPr anchor="ctr">
                    <a:solidFill>
                      <a:srgbClr val="FFFFFF"/>
                    </a:solidFill>
                  </a:tcPr>
                </a:tc>
                <a:tc>
                  <a:txBody>
                    <a:bodyPr/>
                    <a:lstStyle/>
                    <a:p>
                      <a:r>
                        <a:rPr sz="1500" b="0">
                          <a:solidFill>
                            <a:srgbClr val="404040"/>
                          </a:solidFill>
                          <a:latin typeface="Calibri"/>
                        </a:rPr>
                        <a:t>2,983</a:t>
                      </a:r>
                    </a:p>
                  </a:txBody>
                  <a:tcPr anchor="ctr">
                    <a:solidFill>
                      <a:srgbClr val="FFFFFF"/>
                    </a:solidFill>
                  </a:tcPr>
                </a:tc>
                <a:tc>
                  <a:txBody>
                    <a:bodyPr/>
                    <a:lstStyle/>
                    <a:p>
                      <a:r>
                        <a:rPr sz="1500" b="0">
                          <a:solidFill>
                            <a:srgbClr val="404040"/>
                          </a:solidFill>
                          <a:latin typeface="Calibri"/>
                        </a:rPr>
                        <a:t>2,229</a:t>
                      </a:r>
                    </a:p>
                  </a:txBody>
                  <a:tcPr anchor="ctr">
                    <a:solidFill>
                      <a:srgbClr val="FFFFFF"/>
                    </a:solidFill>
                  </a:tcPr>
                </a:tc>
              </a:tr>
              <a:tr h="635000">
                <a:tc>
                  <a:txBody>
                    <a:bodyPr/>
                    <a:lstStyle/>
                    <a:p>
                      <a:r>
                        <a:rPr sz="1500" b="0">
                          <a:solidFill>
                            <a:srgbClr val="404040"/>
                          </a:solidFill>
                          <a:latin typeface="Calibri"/>
                        </a:rPr>
                        <a:t>GSE283381</a:t>
                      </a:r>
                    </a:p>
                  </a:txBody>
                  <a:tcPr anchor="ctr">
                    <a:solidFill>
                      <a:srgbClr val="F0F4F8"/>
                    </a:solidFill>
                  </a:tcPr>
                </a:tc>
                <a:tc>
                  <a:txBody>
                    <a:bodyPr/>
                    <a:lstStyle/>
                    <a:p>
                      <a:r>
                        <a:rPr sz="1500" b="0">
                          <a:solidFill>
                            <a:srgbClr val="404040"/>
                          </a:solidFill>
                          <a:latin typeface="Calibri"/>
                        </a:rPr>
                        <a:t>OVCAR5</a:t>
                      </a:r>
                    </a:p>
                  </a:txBody>
                  <a:tcPr anchor="ctr">
                    <a:solidFill>
                      <a:srgbClr val="F0F4F8"/>
                    </a:solidFill>
                  </a:tcPr>
                </a:tc>
                <a:tc>
                  <a:txBody>
                    <a:bodyPr/>
                    <a:lstStyle/>
                    <a:p>
                      <a:r>
                        <a:rPr sz="1500" b="0">
                          <a:solidFill>
                            <a:srgbClr val="404040"/>
                          </a:solidFill>
                          <a:latin typeface="Calibri"/>
                        </a:rPr>
                        <a:t>20,959</a:t>
                      </a:r>
                    </a:p>
                  </a:txBody>
                  <a:tcPr anchor="ctr">
                    <a:solidFill>
                      <a:srgbClr val="F0F4F8"/>
                    </a:solidFill>
                  </a:tcPr>
                </a:tc>
                <a:tc>
                  <a:txBody>
                    <a:bodyPr/>
                    <a:lstStyle/>
                    <a:p>
                      <a:r>
                        <a:rPr sz="1500" b="0">
                          <a:solidFill>
                            <a:srgbClr val="404040"/>
                          </a:solidFill>
                          <a:latin typeface="Calibri"/>
                        </a:rPr>
                        <a:t>2,572</a:t>
                      </a:r>
                    </a:p>
                  </a:txBody>
                  <a:tcPr anchor="ctr">
                    <a:solidFill>
                      <a:srgbClr val="F0F4F8"/>
                    </a:solidFill>
                  </a:tcPr>
                </a:tc>
                <a:tc>
                  <a:txBody>
                    <a:bodyPr/>
                    <a:lstStyle/>
                    <a:p>
                      <a:r>
                        <a:rPr sz="1500" b="0">
                          <a:solidFill>
                            <a:srgbClr val="404040"/>
                          </a:solidFill>
                          <a:latin typeface="Calibri"/>
                        </a:rPr>
                        <a:t>912</a:t>
                      </a:r>
                    </a:p>
                  </a:txBody>
                  <a:tcPr anchor="ctr">
                    <a:solidFill>
                      <a:srgbClr val="F0F4F8"/>
                    </a:solidFill>
                  </a:tcPr>
                </a:tc>
                <a:tc>
                  <a:txBody>
                    <a:bodyPr/>
                    <a:lstStyle/>
                    <a:p>
                      <a:r>
                        <a:rPr sz="1500" b="0">
                          <a:solidFill>
                            <a:srgbClr val="404040"/>
                          </a:solidFill>
                          <a:latin typeface="Calibri"/>
                        </a:rPr>
                        <a:t>1,660</a:t>
                      </a:r>
                    </a:p>
                  </a:txBody>
                  <a:tcPr anchor="ctr">
                    <a:solidFill>
                      <a:srgbClr val="F0F4F8"/>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652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5200"/>
            <a:ext cx="12192000" cy="63500"/>
          </a:xfrm>
          <a:prstGeom prst="rect">
            <a:avLst/>
          </a:prstGeom>
          <a:solidFill>
            <a:srgbClr val="2E9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1000" y="127000"/>
            <a:ext cx="11430000" cy="736600"/>
          </a:xfrm>
          <a:prstGeom prst="rect">
            <a:avLst/>
          </a:prstGeom>
          <a:noFill/>
        </p:spPr>
        <p:txBody>
          <a:bodyPr wrap="square" anchor="t">
            <a:spAutoFit/>
          </a:bodyPr>
          <a:lstStyle/>
          <a:p>
            <a:pPr algn="l"/>
            <a:r>
              <a:rPr sz="2600" b="1">
                <a:solidFill>
                  <a:srgbClr val="FFFFFF"/>
                </a:solidFill>
                <a:latin typeface="Calibri"/>
              </a:rPr>
              <a:t>Result - Candidate Biomarker Panel</a:t>
            </a:r>
          </a:p>
        </p:txBody>
      </p:sp>
      <p:sp>
        <p:nvSpPr>
          <p:cNvPr id="5" name="Rectangle 4"/>
          <p:cNvSpPr/>
          <p:nvPr/>
        </p:nvSpPr>
        <p:spPr>
          <a:xfrm>
            <a:off x="381000" y="6502400"/>
            <a:ext cx="11430000" cy="12700"/>
          </a:xfrm>
          <a:prstGeom prst="rect">
            <a:avLst/>
          </a:prstGeom>
          <a:solidFill>
            <a:srgbClr val="D2D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1000" y="6515100"/>
            <a:ext cx="9144000" cy="279400"/>
          </a:xfrm>
          <a:prstGeom prst="rect">
            <a:avLst/>
          </a:prstGeom>
          <a:noFill/>
        </p:spPr>
        <p:txBody>
          <a:bodyPr wrap="square" anchor="t">
            <a:spAutoFit/>
          </a:bodyPr>
          <a:lstStyle/>
          <a:p>
            <a:pPr algn="l"/>
            <a:r>
              <a:rPr sz="1000" b="0">
                <a:solidFill>
                  <a:srgbClr val="828A96"/>
                </a:solidFill>
                <a:latin typeface="Calibri"/>
              </a:rPr>
              <a:t>Transcriptomic Profiling of Drug-Resistant Cancer Cells</a:t>
            </a:r>
          </a:p>
        </p:txBody>
      </p:sp>
      <p:sp>
        <p:nvSpPr>
          <p:cNvPr id="7" name="TextBox 6"/>
          <p:cNvSpPr txBox="1"/>
          <p:nvPr/>
        </p:nvSpPr>
        <p:spPr>
          <a:xfrm>
            <a:off x="11303000" y="6515100"/>
            <a:ext cx="508000" cy="279400"/>
          </a:xfrm>
          <a:prstGeom prst="rect">
            <a:avLst/>
          </a:prstGeom>
          <a:noFill/>
        </p:spPr>
        <p:txBody>
          <a:bodyPr wrap="square" anchor="t">
            <a:spAutoFit/>
          </a:bodyPr>
          <a:lstStyle/>
          <a:p>
            <a:pPr algn="r"/>
            <a:r>
              <a:rPr sz="1000" b="0">
                <a:solidFill>
                  <a:srgbClr val="828A96"/>
                </a:solidFill>
                <a:latin typeface="Calibri"/>
              </a:rPr>
              <a:t>17</a:t>
            </a:r>
          </a:p>
        </p:txBody>
      </p:sp>
      <p:graphicFrame>
        <p:nvGraphicFramePr>
          <p:cNvPr id="8" name="Table 7"/>
          <p:cNvGraphicFramePr>
            <a:graphicFrameLocks noGrp="1"/>
          </p:cNvGraphicFramePr>
          <p:nvPr/>
        </p:nvGraphicFramePr>
        <p:xfrm>
          <a:off x="2667000" y="1524000"/>
          <a:ext cx="6858000" cy="4572000"/>
        </p:xfrm>
        <a:graphic>
          <a:graphicData uri="http://schemas.openxmlformats.org/drawingml/2006/table">
            <a:tbl>
              <a:tblPr firstRow="1" bandRow="1">
                <a:tableStyleId>{5C22544A-7EE6-4342-B048-85BDC9FD1C3A}</a:tableStyleId>
              </a:tblPr>
              <a:tblGrid>
                <a:gridCol w="1714500"/>
                <a:gridCol w="1714500"/>
                <a:gridCol w="1714500"/>
                <a:gridCol w="1714500"/>
              </a:tblGrid>
              <a:tr h="415636">
                <a:tc>
                  <a:txBody>
                    <a:bodyPr/>
                    <a:lstStyle/>
                    <a:p>
                      <a:r>
                        <a:rPr sz="1400" b="1">
                          <a:solidFill>
                            <a:srgbClr val="FFFFFF"/>
                          </a:solidFill>
                          <a:latin typeface="Calibri"/>
                        </a:rPr>
                        <a:t>Rank</a:t>
                      </a:r>
                    </a:p>
                  </a:txBody>
                  <a:tcPr anchor="ctr">
                    <a:solidFill>
                      <a:srgbClr val="1F3864"/>
                    </a:solidFill>
                  </a:tcPr>
                </a:tc>
                <a:tc>
                  <a:txBody>
                    <a:bodyPr/>
                    <a:lstStyle/>
                    <a:p>
                      <a:r>
                        <a:rPr sz="1400" b="1">
                          <a:solidFill>
                            <a:srgbClr val="FFFFFF"/>
                          </a:solidFill>
                          <a:latin typeface="Calibri"/>
                        </a:rPr>
                        <a:t>Gene</a:t>
                      </a:r>
                    </a:p>
                  </a:txBody>
                  <a:tcPr anchor="ctr">
                    <a:solidFill>
                      <a:srgbClr val="1F3864"/>
                    </a:solidFill>
                  </a:tcPr>
                </a:tc>
                <a:tc>
                  <a:txBody>
                    <a:bodyPr/>
                    <a:lstStyle/>
                    <a:p>
                      <a:r>
                        <a:rPr sz="1400" b="1">
                          <a:solidFill>
                            <a:srgbClr val="FFFFFF"/>
                          </a:solidFill>
                          <a:latin typeface="Calibri"/>
                        </a:rPr>
                        <a:t>Selected (of 15 slots)</a:t>
                      </a:r>
                    </a:p>
                  </a:txBody>
                  <a:tcPr anchor="ctr">
                    <a:solidFill>
                      <a:srgbClr val="1F3864"/>
                    </a:solidFill>
                  </a:tcPr>
                </a:tc>
                <a:tc>
                  <a:txBody>
                    <a:bodyPr/>
                    <a:lstStyle/>
                    <a:p>
                      <a:r>
                        <a:rPr sz="1400" b="1">
                          <a:solidFill>
                            <a:srgbClr val="FFFFFF"/>
                          </a:solidFill>
                          <a:latin typeface="Calibri"/>
                        </a:rPr>
                        <a:t>Mean |log2FC|</a:t>
                      </a:r>
                    </a:p>
                  </a:txBody>
                  <a:tcPr anchor="ctr">
                    <a:solidFill>
                      <a:srgbClr val="1F3864"/>
                    </a:solidFill>
                  </a:tcPr>
                </a:tc>
              </a:tr>
              <a:tr h="415636">
                <a:tc>
                  <a:txBody>
                    <a:bodyPr/>
                    <a:lstStyle/>
                    <a:p>
                      <a:r>
                        <a:rPr sz="1400" b="0">
                          <a:solidFill>
                            <a:srgbClr val="404040"/>
                          </a:solidFill>
                          <a:latin typeface="Calibri"/>
                        </a:rPr>
                        <a:t>1</a:t>
                      </a:r>
                    </a:p>
                  </a:txBody>
                  <a:tcPr anchor="ctr">
                    <a:solidFill>
                      <a:srgbClr val="FFFFFF"/>
                    </a:solidFill>
                  </a:tcPr>
                </a:tc>
                <a:tc>
                  <a:txBody>
                    <a:bodyPr/>
                    <a:lstStyle/>
                    <a:p>
                      <a:r>
                        <a:rPr sz="1400" b="0">
                          <a:solidFill>
                            <a:srgbClr val="404040"/>
                          </a:solidFill>
                          <a:latin typeface="Calibri"/>
                        </a:rPr>
                        <a:t>MAL2</a:t>
                      </a:r>
                    </a:p>
                  </a:txBody>
                  <a:tcPr anchor="ctr">
                    <a:solidFill>
                      <a:srgbClr val="FFFFFF"/>
                    </a:solidFill>
                  </a:tcPr>
                </a:tc>
                <a:tc>
                  <a:txBody>
                    <a:bodyPr/>
                    <a:lstStyle/>
                    <a:p>
                      <a:r>
                        <a:rPr sz="1400" b="0">
                          <a:solidFill>
                            <a:srgbClr val="404040"/>
                          </a:solidFill>
                          <a:latin typeface="Calibri"/>
                        </a:rPr>
                        <a:t>15</a:t>
                      </a:r>
                    </a:p>
                  </a:txBody>
                  <a:tcPr anchor="ctr">
                    <a:solidFill>
                      <a:srgbClr val="FFFFFF"/>
                    </a:solidFill>
                  </a:tcPr>
                </a:tc>
                <a:tc>
                  <a:txBody>
                    <a:bodyPr/>
                    <a:lstStyle/>
                    <a:p>
                      <a:r>
                        <a:rPr sz="1400" b="0">
                          <a:solidFill>
                            <a:srgbClr val="404040"/>
                          </a:solidFill>
                          <a:latin typeface="Calibri"/>
                        </a:rPr>
                        <a:t>6.6</a:t>
                      </a:r>
                    </a:p>
                  </a:txBody>
                  <a:tcPr anchor="ctr">
                    <a:solidFill>
                      <a:srgbClr val="FFFFFF"/>
                    </a:solidFill>
                  </a:tcPr>
                </a:tc>
              </a:tr>
              <a:tr h="415636">
                <a:tc>
                  <a:txBody>
                    <a:bodyPr/>
                    <a:lstStyle/>
                    <a:p>
                      <a:r>
                        <a:rPr sz="1400" b="0">
                          <a:solidFill>
                            <a:srgbClr val="404040"/>
                          </a:solidFill>
                          <a:latin typeface="Calibri"/>
                        </a:rPr>
                        <a:t>2</a:t>
                      </a:r>
                    </a:p>
                  </a:txBody>
                  <a:tcPr anchor="ctr">
                    <a:solidFill>
                      <a:srgbClr val="F0F4F8"/>
                    </a:solidFill>
                  </a:tcPr>
                </a:tc>
                <a:tc>
                  <a:txBody>
                    <a:bodyPr/>
                    <a:lstStyle/>
                    <a:p>
                      <a:r>
                        <a:rPr sz="1400" b="0">
                          <a:solidFill>
                            <a:srgbClr val="404040"/>
                          </a:solidFill>
                          <a:latin typeface="Calibri"/>
                        </a:rPr>
                        <a:t>GALNT6</a:t>
                      </a:r>
                    </a:p>
                  </a:txBody>
                  <a:tcPr anchor="ctr">
                    <a:solidFill>
                      <a:srgbClr val="F0F4F8"/>
                    </a:solidFill>
                  </a:tcPr>
                </a:tc>
                <a:tc>
                  <a:txBody>
                    <a:bodyPr/>
                    <a:lstStyle/>
                    <a:p>
                      <a:r>
                        <a:rPr sz="1400" b="0">
                          <a:solidFill>
                            <a:srgbClr val="404040"/>
                          </a:solidFill>
                          <a:latin typeface="Calibri"/>
                        </a:rPr>
                        <a:t>15</a:t>
                      </a:r>
                    </a:p>
                  </a:txBody>
                  <a:tcPr anchor="ctr">
                    <a:solidFill>
                      <a:srgbClr val="F0F4F8"/>
                    </a:solidFill>
                  </a:tcPr>
                </a:tc>
                <a:tc>
                  <a:txBody>
                    <a:bodyPr/>
                    <a:lstStyle/>
                    <a:p>
                      <a:r>
                        <a:rPr sz="1400" b="0">
                          <a:solidFill>
                            <a:srgbClr val="404040"/>
                          </a:solidFill>
                          <a:latin typeface="Calibri"/>
                        </a:rPr>
                        <a:t>6.0</a:t>
                      </a:r>
                    </a:p>
                  </a:txBody>
                  <a:tcPr anchor="ctr">
                    <a:solidFill>
                      <a:srgbClr val="F0F4F8"/>
                    </a:solidFill>
                  </a:tcPr>
                </a:tc>
              </a:tr>
              <a:tr h="415636">
                <a:tc>
                  <a:txBody>
                    <a:bodyPr/>
                    <a:lstStyle/>
                    <a:p>
                      <a:r>
                        <a:rPr sz="1400" b="0">
                          <a:solidFill>
                            <a:srgbClr val="404040"/>
                          </a:solidFill>
                          <a:latin typeface="Calibri"/>
                        </a:rPr>
                        <a:t>3</a:t>
                      </a:r>
                    </a:p>
                  </a:txBody>
                  <a:tcPr anchor="ctr">
                    <a:solidFill>
                      <a:srgbClr val="FFFFFF"/>
                    </a:solidFill>
                  </a:tcPr>
                </a:tc>
                <a:tc>
                  <a:txBody>
                    <a:bodyPr/>
                    <a:lstStyle/>
                    <a:p>
                      <a:r>
                        <a:rPr sz="1400" b="0">
                          <a:solidFill>
                            <a:srgbClr val="404040"/>
                          </a:solidFill>
                          <a:latin typeface="Calibri"/>
                        </a:rPr>
                        <a:t>LDOC1</a:t>
                      </a:r>
                    </a:p>
                  </a:txBody>
                  <a:tcPr anchor="ctr">
                    <a:solidFill>
                      <a:srgbClr val="FFFFFF"/>
                    </a:solidFill>
                  </a:tcPr>
                </a:tc>
                <a:tc>
                  <a:txBody>
                    <a:bodyPr/>
                    <a:lstStyle/>
                    <a:p>
                      <a:r>
                        <a:rPr sz="1400" b="0">
                          <a:solidFill>
                            <a:srgbClr val="404040"/>
                          </a:solidFill>
                          <a:latin typeface="Calibri"/>
                        </a:rPr>
                        <a:t>15</a:t>
                      </a:r>
                    </a:p>
                  </a:txBody>
                  <a:tcPr anchor="ctr">
                    <a:solidFill>
                      <a:srgbClr val="FFFFFF"/>
                    </a:solidFill>
                  </a:tcPr>
                </a:tc>
                <a:tc>
                  <a:txBody>
                    <a:bodyPr/>
                    <a:lstStyle/>
                    <a:p>
                      <a:r>
                        <a:rPr sz="1400" b="0">
                          <a:solidFill>
                            <a:srgbClr val="404040"/>
                          </a:solidFill>
                          <a:latin typeface="Calibri"/>
                        </a:rPr>
                        <a:t>13.1</a:t>
                      </a:r>
                    </a:p>
                  </a:txBody>
                  <a:tcPr anchor="ctr">
                    <a:solidFill>
                      <a:srgbClr val="FFFFFF"/>
                    </a:solidFill>
                  </a:tcPr>
                </a:tc>
              </a:tr>
              <a:tr h="415636">
                <a:tc>
                  <a:txBody>
                    <a:bodyPr/>
                    <a:lstStyle/>
                    <a:p>
                      <a:r>
                        <a:rPr sz="1400" b="0">
                          <a:solidFill>
                            <a:srgbClr val="404040"/>
                          </a:solidFill>
                          <a:latin typeface="Calibri"/>
                        </a:rPr>
                        <a:t>4</a:t>
                      </a:r>
                    </a:p>
                  </a:txBody>
                  <a:tcPr anchor="ctr">
                    <a:solidFill>
                      <a:srgbClr val="F0F4F8"/>
                    </a:solidFill>
                  </a:tcPr>
                </a:tc>
                <a:tc>
                  <a:txBody>
                    <a:bodyPr/>
                    <a:lstStyle/>
                    <a:p>
                      <a:r>
                        <a:rPr sz="1400" b="0">
                          <a:solidFill>
                            <a:srgbClr val="404040"/>
                          </a:solidFill>
                          <a:latin typeface="Calibri"/>
                        </a:rPr>
                        <a:t>SH2D4A</a:t>
                      </a:r>
                    </a:p>
                  </a:txBody>
                  <a:tcPr anchor="ctr">
                    <a:solidFill>
                      <a:srgbClr val="F0F4F8"/>
                    </a:solidFill>
                  </a:tcPr>
                </a:tc>
                <a:tc>
                  <a:txBody>
                    <a:bodyPr/>
                    <a:lstStyle/>
                    <a:p>
                      <a:r>
                        <a:rPr sz="1400" b="0">
                          <a:solidFill>
                            <a:srgbClr val="404040"/>
                          </a:solidFill>
                          <a:latin typeface="Calibri"/>
                        </a:rPr>
                        <a:t>15</a:t>
                      </a:r>
                    </a:p>
                  </a:txBody>
                  <a:tcPr anchor="ctr">
                    <a:solidFill>
                      <a:srgbClr val="F0F4F8"/>
                    </a:solidFill>
                  </a:tcPr>
                </a:tc>
                <a:tc>
                  <a:txBody>
                    <a:bodyPr/>
                    <a:lstStyle/>
                    <a:p>
                      <a:r>
                        <a:rPr sz="1400" b="0">
                          <a:solidFill>
                            <a:srgbClr val="404040"/>
                          </a:solidFill>
                          <a:latin typeface="Calibri"/>
                        </a:rPr>
                        <a:t>11.9</a:t>
                      </a:r>
                    </a:p>
                  </a:txBody>
                  <a:tcPr anchor="ctr">
                    <a:solidFill>
                      <a:srgbClr val="F0F4F8"/>
                    </a:solidFill>
                  </a:tcPr>
                </a:tc>
              </a:tr>
              <a:tr h="415636">
                <a:tc>
                  <a:txBody>
                    <a:bodyPr/>
                    <a:lstStyle/>
                    <a:p>
                      <a:r>
                        <a:rPr sz="1400" b="0">
                          <a:solidFill>
                            <a:srgbClr val="404040"/>
                          </a:solidFill>
                          <a:latin typeface="Calibri"/>
                        </a:rPr>
                        <a:t>5</a:t>
                      </a:r>
                    </a:p>
                  </a:txBody>
                  <a:tcPr anchor="ctr">
                    <a:solidFill>
                      <a:srgbClr val="FFFFFF"/>
                    </a:solidFill>
                  </a:tcPr>
                </a:tc>
                <a:tc>
                  <a:txBody>
                    <a:bodyPr/>
                    <a:lstStyle/>
                    <a:p>
                      <a:r>
                        <a:rPr sz="1400" b="0">
                          <a:solidFill>
                            <a:srgbClr val="404040"/>
                          </a:solidFill>
                          <a:latin typeface="Calibri"/>
                        </a:rPr>
                        <a:t>FBXL21P</a:t>
                      </a:r>
                    </a:p>
                  </a:txBody>
                  <a:tcPr anchor="ctr">
                    <a:solidFill>
                      <a:srgbClr val="FFFFFF"/>
                    </a:solidFill>
                  </a:tcPr>
                </a:tc>
                <a:tc>
                  <a:txBody>
                    <a:bodyPr/>
                    <a:lstStyle/>
                    <a:p>
                      <a:r>
                        <a:rPr sz="1400" b="0">
                          <a:solidFill>
                            <a:srgbClr val="404040"/>
                          </a:solidFill>
                          <a:latin typeface="Calibri"/>
                        </a:rPr>
                        <a:t>15</a:t>
                      </a:r>
                    </a:p>
                  </a:txBody>
                  <a:tcPr anchor="ctr">
                    <a:solidFill>
                      <a:srgbClr val="FFFFFF"/>
                    </a:solidFill>
                  </a:tcPr>
                </a:tc>
                <a:tc>
                  <a:txBody>
                    <a:bodyPr/>
                    <a:lstStyle/>
                    <a:p>
                      <a:r>
                        <a:rPr sz="1400" b="0">
                          <a:solidFill>
                            <a:srgbClr val="404040"/>
                          </a:solidFill>
                          <a:latin typeface="Calibri"/>
                        </a:rPr>
                        <a:t>11.3</a:t>
                      </a:r>
                    </a:p>
                  </a:txBody>
                  <a:tcPr anchor="ctr">
                    <a:solidFill>
                      <a:srgbClr val="FFFFFF"/>
                    </a:solidFill>
                  </a:tcPr>
                </a:tc>
              </a:tr>
              <a:tr h="415636">
                <a:tc>
                  <a:txBody>
                    <a:bodyPr/>
                    <a:lstStyle/>
                    <a:p>
                      <a:r>
                        <a:rPr sz="1400" b="0">
                          <a:solidFill>
                            <a:srgbClr val="404040"/>
                          </a:solidFill>
                          <a:latin typeface="Calibri"/>
                        </a:rPr>
                        <a:t>6</a:t>
                      </a:r>
                    </a:p>
                  </a:txBody>
                  <a:tcPr anchor="ctr">
                    <a:solidFill>
                      <a:srgbClr val="F0F4F8"/>
                    </a:solidFill>
                  </a:tcPr>
                </a:tc>
                <a:tc>
                  <a:txBody>
                    <a:bodyPr/>
                    <a:lstStyle/>
                    <a:p>
                      <a:r>
                        <a:rPr sz="1400" b="0">
                          <a:solidFill>
                            <a:srgbClr val="404040"/>
                          </a:solidFill>
                          <a:latin typeface="Calibri"/>
                        </a:rPr>
                        <a:t>EPB41L3</a:t>
                      </a:r>
                    </a:p>
                  </a:txBody>
                  <a:tcPr anchor="ctr">
                    <a:solidFill>
                      <a:srgbClr val="F0F4F8"/>
                    </a:solidFill>
                  </a:tcPr>
                </a:tc>
                <a:tc>
                  <a:txBody>
                    <a:bodyPr/>
                    <a:lstStyle/>
                    <a:p>
                      <a:r>
                        <a:rPr sz="1400" b="0">
                          <a:solidFill>
                            <a:srgbClr val="404040"/>
                          </a:solidFill>
                          <a:latin typeface="Calibri"/>
                        </a:rPr>
                        <a:t>15</a:t>
                      </a:r>
                    </a:p>
                  </a:txBody>
                  <a:tcPr anchor="ctr">
                    <a:solidFill>
                      <a:srgbClr val="F0F4F8"/>
                    </a:solidFill>
                  </a:tcPr>
                </a:tc>
                <a:tc>
                  <a:txBody>
                    <a:bodyPr/>
                    <a:lstStyle/>
                    <a:p>
                      <a:r>
                        <a:rPr sz="1400" b="0">
                          <a:solidFill>
                            <a:srgbClr val="404040"/>
                          </a:solidFill>
                          <a:latin typeface="Calibri"/>
                        </a:rPr>
                        <a:t>11.1</a:t>
                      </a:r>
                    </a:p>
                  </a:txBody>
                  <a:tcPr anchor="ctr">
                    <a:solidFill>
                      <a:srgbClr val="F0F4F8"/>
                    </a:solidFill>
                  </a:tcPr>
                </a:tc>
              </a:tr>
              <a:tr h="415636">
                <a:tc>
                  <a:txBody>
                    <a:bodyPr/>
                    <a:lstStyle/>
                    <a:p>
                      <a:r>
                        <a:rPr sz="1400" b="0">
                          <a:solidFill>
                            <a:srgbClr val="404040"/>
                          </a:solidFill>
                          <a:latin typeface="Calibri"/>
                        </a:rPr>
                        <a:t>7</a:t>
                      </a:r>
                    </a:p>
                  </a:txBody>
                  <a:tcPr anchor="ctr">
                    <a:solidFill>
                      <a:srgbClr val="FFFFFF"/>
                    </a:solidFill>
                  </a:tcPr>
                </a:tc>
                <a:tc>
                  <a:txBody>
                    <a:bodyPr/>
                    <a:lstStyle/>
                    <a:p>
                      <a:r>
                        <a:rPr sz="1400" b="0">
                          <a:solidFill>
                            <a:srgbClr val="404040"/>
                          </a:solidFill>
                          <a:latin typeface="Calibri"/>
                        </a:rPr>
                        <a:t>TMEM218</a:t>
                      </a:r>
                    </a:p>
                  </a:txBody>
                  <a:tcPr anchor="ctr">
                    <a:solidFill>
                      <a:srgbClr val="FFFFFF"/>
                    </a:solidFill>
                  </a:tcPr>
                </a:tc>
                <a:tc>
                  <a:txBody>
                    <a:bodyPr/>
                    <a:lstStyle/>
                    <a:p>
                      <a:r>
                        <a:rPr sz="1400" b="0">
                          <a:solidFill>
                            <a:srgbClr val="404040"/>
                          </a:solidFill>
                          <a:latin typeface="Calibri"/>
                        </a:rPr>
                        <a:t>15</a:t>
                      </a:r>
                    </a:p>
                  </a:txBody>
                  <a:tcPr anchor="ctr">
                    <a:solidFill>
                      <a:srgbClr val="FFFFFF"/>
                    </a:solidFill>
                  </a:tcPr>
                </a:tc>
                <a:tc>
                  <a:txBody>
                    <a:bodyPr/>
                    <a:lstStyle/>
                    <a:p>
                      <a:r>
                        <a:rPr sz="1400" b="0">
                          <a:solidFill>
                            <a:srgbClr val="404040"/>
                          </a:solidFill>
                          <a:latin typeface="Calibri"/>
                        </a:rPr>
                        <a:t>10.9</a:t>
                      </a:r>
                    </a:p>
                  </a:txBody>
                  <a:tcPr anchor="ctr">
                    <a:solidFill>
                      <a:srgbClr val="FFFFFF"/>
                    </a:solidFill>
                  </a:tcPr>
                </a:tc>
              </a:tr>
              <a:tr h="415636">
                <a:tc>
                  <a:txBody>
                    <a:bodyPr/>
                    <a:lstStyle/>
                    <a:p>
                      <a:r>
                        <a:rPr sz="1400" b="0">
                          <a:solidFill>
                            <a:srgbClr val="404040"/>
                          </a:solidFill>
                          <a:latin typeface="Calibri"/>
                        </a:rPr>
                        <a:t>8</a:t>
                      </a:r>
                    </a:p>
                  </a:txBody>
                  <a:tcPr anchor="ctr">
                    <a:solidFill>
                      <a:srgbClr val="F0F4F8"/>
                    </a:solidFill>
                  </a:tcPr>
                </a:tc>
                <a:tc>
                  <a:txBody>
                    <a:bodyPr/>
                    <a:lstStyle/>
                    <a:p>
                      <a:r>
                        <a:rPr sz="1400" b="0">
                          <a:solidFill>
                            <a:srgbClr val="404040"/>
                          </a:solidFill>
                          <a:latin typeface="Calibri"/>
                        </a:rPr>
                        <a:t>CALB1</a:t>
                      </a:r>
                    </a:p>
                  </a:txBody>
                  <a:tcPr anchor="ctr">
                    <a:solidFill>
                      <a:srgbClr val="F0F4F8"/>
                    </a:solidFill>
                  </a:tcPr>
                </a:tc>
                <a:tc>
                  <a:txBody>
                    <a:bodyPr/>
                    <a:lstStyle/>
                    <a:p>
                      <a:r>
                        <a:rPr sz="1400" b="0">
                          <a:solidFill>
                            <a:srgbClr val="404040"/>
                          </a:solidFill>
                          <a:latin typeface="Calibri"/>
                        </a:rPr>
                        <a:t>15</a:t>
                      </a:r>
                    </a:p>
                  </a:txBody>
                  <a:tcPr anchor="ctr">
                    <a:solidFill>
                      <a:srgbClr val="F0F4F8"/>
                    </a:solidFill>
                  </a:tcPr>
                </a:tc>
                <a:tc>
                  <a:txBody>
                    <a:bodyPr/>
                    <a:lstStyle/>
                    <a:p>
                      <a:r>
                        <a:rPr sz="1400" b="0">
                          <a:solidFill>
                            <a:srgbClr val="404040"/>
                          </a:solidFill>
                          <a:latin typeface="Calibri"/>
                        </a:rPr>
                        <a:t>9.7</a:t>
                      </a:r>
                    </a:p>
                  </a:txBody>
                  <a:tcPr anchor="ctr">
                    <a:solidFill>
                      <a:srgbClr val="F0F4F8"/>
                    </a:solidFill>
                  </a:tcPr>
                </a:tc>
              </a:tr>
              <a:tr h="415636">
                <a:tc>
                  <a:txBody>
                    <a:bodyPr/>
                    <a:lstStyle/>
                    <a:p>
                      <a:r>
                        <a:rPr sz="1400" b="0">
                          <a:solidFill>
                            <a:srgbClr val="404040"/>
                          </a:solidFill>
                          <a:latin typeface="Calibri"/>
                        </a:rPr>
                        <a:t>9</a:t>
                      </a:r>
                    </a:p>
                  </a:txBody>
                  <a:tcPr anchor="ctr">
                    <a:solidFill>
                      <a:srgbClr val="FFFFFF"/>
                    </a:solidFill>
                  </a:tcPr>
                </a:tc>
                <a:tc>
                  <a:txBody>
                    <a:bodyPr/>
                    <a:lstStyle/>
                    <a:p>
                      <a:r>
                        <a:rPr sz="1400" b="0">
                          <a:solidFill>
                            <a:srgbClr val="404040"/>
                          </a:solidFill>
                          <a:latin typeface="Calibri"/>
                        </a:rPr>
                        <a:t>LINC02582</a:t>
                      </a:r>
                    </a:p>
                  </a:txBody>
                  <a:tcPr anchor="ctr">
                    <a:solidFill>
                      <a:srgbClr val="FFFFFF"/>
                    </a:solidFill>
                  </a:tcPr>
                </a:tc>
                <a:tc>
                  <a:txBody>
                    <a:bodyPr/>
                    <a:lstStyle/>
                    <a:p>
                      <a:r>
                        <a:rPr sz="1400" b="0">
                          <a:solidFill>
                            <a:srgbClr val="404040"/>
                          </a:solidFill>
                          <a:latin typeface="Calibri"/>
                        </a:rPr>
                        <a:t>15</a:t>
                      </a:r>
                    </a:p>
                  </a:txBody>
                  <a:tcPr anchor="ctr">
                    <a:solidFill>
                      <a:srgbClr val="FFFFFF"/>
                    </a:solidFill>
                  </a:tcPr>
                </a:tc>
                <a:tc>
                  <a:txBody>
                    <a:bodyPr/>
                    <a:lstStyle/>
                    <a:p>
                      <a:r>
                        <a:rPr sz="1400" b="0">
                          <a:solidFill>
                            <a:srgbClr val="404040"/>
                          </a:solidFill>
                          <a:latin typeface="Calibri"/>
                        </a:rPr>
                        <a:t>9.7</a:t>
                      </a:r>
                    </a:p>
                  </a:txBody>
                  <a:tcPr anchor="ctr">
                    <a:solidFill>
                      <a:srgbClr val="FFFFFF"/>
                    </a:solidFill>
                  </a:tcPr>
                </a:tc>
              </a:tr>
              <a:tr h="415640">
                <a:tc>
                  <a:txBody>
                    <a:bodyPr/>
                    <a:lstStyle/>
                    <a:p>
                      <a:r>
                        <a:rPr sz="1400" b="0">
                          <a:solidFill>
                            <a:srgbClr val="404040"/>
                          </a:solidFill>
                          <a:latin typeface="Calibri"/>
                        </a:rPr>
                        <a:t>10</a:t>
                      </a:r>
                    </a:p>
                  </a:txBody>
                  <a:tcPr anchor="ctr">
                    <a:solidFill>
                      <a:srgbClr val="F0F4F8"/>
                    </a:solidFill>
                  </a:tcPr>
                </a:tc>
                <a:tc>
                  <a:txBody>
                    <a:bodyPr/>
                    <a:lstStyle/>
                    <a:p>
                      <a:r>
                        <a:rPr sz="1400" b="0">
                          <a:solidFill>
                            <a:srgbClr val="404040"/>
                          </a:solidFill>
                          <a:latin typeface="Calibri"/>
                        </a:rPr>
                        <a:t>CELF2</a:t>
                      </a:r>
                    </a:p>
                  </a:txBody>
                  <a:tcPr anchor="ctr">
                    <a:solidFill>
                      <a:srgbClr val="F0F4F8"/>
                    </a:solidFill>
                  </a:tcPr>
                </a:tc>
                <a:tc>
                  <a:txBody>
                    <a:bodyPr/>
                    <a:lstStyle/>
                    <a:p>
                      <a:r>
                        <a:rPr sz="1400" b="0">
                          <a:solidFill>
                            <a:srgbClr val="404040"/>
                          </a:solidFill>
                          <a:latin typeface="Calibri"/>
                        </a:rPr>
                        <a:t>15</a:t>
                      </a:r>
                    </a:p>
                  </a:txBody>
                  <a:tcPr anchor="ctr">
                    <a:solidFill>
                      <a:srgbClr val="F0F4F8"/>
                    </a:solidFill>
                  </a:tcPr>
                </a:tc>
                <a:tc>
                  <a:txBody>
                    <a:bodyPr/>
                    <a:lstStyle/>
                    <a:p>
                      <a:r>
                        <a:rPr sz="1400" b="0">
                          <a:solidFill>
                            <a:srgbClr val="404040"/>
                          </a:solidFill>
                          <a:latin typeface="Calibri"/>
                        </a:rPr>
                        <a:t>9.0</a:t>
                      </a:r>
                    </a:p>
                  </a:txBody>
                  <a:tcPr anchor="ctr">
                    <a:solidFill>
                      <a:srgbClr val="F0F4F8"/>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652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5200"/>
            <a:ext cx="12192000" cy="63500"/>
          </a:xfrm>
          <a:prstGeom prst="rect">
            <a:avLst/>
          </a:prstGeom>
          <a:solidFill>
            <a:srgbClr val="2E9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1000" y="127000"/>
            <a:ext cx="11430000" cy="736600"/>
          </a:xfrm>
          <a:prstGeom prst="rect">
            <a:avLst/>
          </a:prstGeom>
          <a:noFill/>
        </p:spPr>
        <p:txBody>
          <a:bodyPr wrap="square" anchor="t">
            <a:spAutoFit/>
          </a:bodyPr>
          <a:lstStyle/>
          <a:p>
            <a:pPr algn="l"/>
            <a:r>
              <a:rPr sz="2600" b="1">
                <a:solidFill>
                  <a:srgbClr val="FFFFFF"/>
                </a:solidFill>
                <a:latin typeface="Calibri"/>
              </a:rPr>
              <a:t>Discussion</a:t>
            </a:r>
          </a:p>
        </p:txBody>
      </p:sp>
      <p:sp>
        <p:nvSpPr>
          <p:cNvPr id="5" name="Rectangle 4"/>
          <p:cNvSpPr/>
          <p:nvPr/>
        </p:nvSpPr>
        <p:spPr>
          <a:xfrm>
            <a:off x="381000" y="6502400"/>
            <a:ext cx="11430000" cy="12700"/>
          </a:xfrm>
          <a:prstGeom prst="rect">
            <a:avLst/>
          </a:prstGeom>
          <a:solidFill>
            <a:srgbClr val="D2D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1000" y="6515100"/>
            <a:ext cx="9144000" cy="279400"/>
          </a:xfrm>
          <a:prstGeom prst="rect">
            <a:avLst/>
          </a:prstGeom>
          <a:noFill/>
        </p:spPr>
        <p:txBody>
          <a:bodyPr wrap="square" anchor="t">
            <a:spAutoFit/>
          </a:bodyPr>
          <a:lstStyle/>
          <a:p>
            <a:pPr algn="l"/>
            <a:r>
              <a:rPr sz="1000" b="0">
                <a:solidFill>
                  <a:srgbClr val="828A96"/>
                </a:solidFill>
                <a:latin typeface="Calibri"/>
              </a:rPr>
              <a:t>Transcriptomic Profiling of Drug-Resistant Cancer Cells</a:t>
            </a:r>
          </a:p>
        </p:txBody>
      </p:sp>
      <p:sp>
        <p:nvSpPr>
          <p:cNvPr id="7" name="TextBox 6"/>
          <p:cNvSpPr txBox="1"/>
          <p:nvPr/>
        </p:nvSpPr>
        <p:spPr>
          <a:xfrm>
            <a:off x="11303000" y="6515100"/>
            <a:ext cx="508000" cy="279400"/>
          </a:xfrm>
          <a:prstGeom prst="rect">
            <a:avLst/>
          </a:prstGeom>
          <a:noFill/>
        </p:spPr>
        <p:txBody>
          <a:bodyPr wrap="square" anchor="t">
            <a:spAutoFit/>
          </a:bodyPr>
          <a:lstStyle/>
          <a:p>
            <a:pPr algn="r"/>
            <a:r>
              <a:rPr sz="1000" b="0">
                <a:solidFill>
                  <a:srgbClr val="828A96"/>
                </a:solidFill>
                <a:latin typeface="Calibri"/>
              </a:rPr>
              <a:t>18</a:t>
            </a:r>
          </a:p>
        </p:txBody>
      </p:sp>
      <p:sp>
        <p:nvSpPr>
          <p:cNvPr id="8" name="TextBox 7"/>
          <p:cNvSpPr txBox="1"/>
          <p:nvPr/>
        </p:nvSpPr>
        <p:spPr>
          <a:xfrm>
            <a:off x="762000" y="1460500"/>
            <a:ext cx="10668000" cy="4889500"/>
          </a:xfrm>
          <a:prstGeom prst="rect">
            <a:avLst/>
          </a:prstGeom>
          <a:noFill/>
        </p:spPr>
        <p:txBody>
          <a:bodyPr wrap="square">
            <a:spAutoFit/>
          </a:bodyPr>
          <a:lstStyle/>
          <a:p>
            <a:pPr>
              <a:spcAft>
                <a:spcPts val="500"/>
              </a:spcAft>
            </a:pPr>
            <a:r>
              <a:rPr sz="1500">
                <a:solidFill>
                  <a:srgbClr val="404040"/>
                </a:solidFill>
                <a:latin typeface="Calibri"/>
              </a:rPr>
              <a:t>Biological interpretation</a:t>
            </a:r>
          </a:p>
          <a:p>
            <a:pPr>
              <a:spcAft>
                <a:spcPts val="500"/>
              </a:spcAft>
            </a:pPr>
            <a:r>
              <a:rPr sz="1500">
                <a:solidFill>
                  <a:srgbClr val="404040"/>
                </a:solidFill>
                <a:latin typeface="Calibri"/>
              </a:rPr>
              <a:t>•  Shared signature = loss of epithelial adhesion (CDH1, EPCAM) + gain of ECM/mesenchymal components (COL1A1/5A2/6A1, MMP14) -&gt; canonical EMT.</a:t>
            </a:r>
          </a:p>
          <a:p>
            <a:pPr>
              <a:spcAft>
                <a:spcPts val="500"/>
              </a:spcAft>
            </a:pPr>
            <a:r>
              <a:rPr sz="1500">
                <a:solidFill>
                  <a:srgbClr val="404040"/>
                </a:solidFill>
                <a:latin typeface="Calibri"/>
              </a:rPr>
              <a:t>•  OVCAR5 inflammatory axis (IL1A/IL1B); NDRG1 and KYNU provide literature-anchored nodes; SERPINE1 links to ECM remodelling and metastasis.</a:t>
            </a:r>
          </a:p>
          <a:p>
            <a:pPr>
              <a:spcAft>
                <a:spcPts val="500"/>
              </a:spcAft>
            </a:pPr>
            <a:r>
              <a:rPr sz="1500">
                <a:solidFill>
                  <a:srgbClr val="404040"/>
                </a:solidFill>
                <a:latin typeface="Calibri"/>
              </a:rPr>
              <a:t>Proposed mechanism</a:t>
            </a:r>
          </a:p>
          <a:p>
            <a:pPr>
              <a:spcAft>
                <a:spcPts val="500"/>
              </a:spcAft>
            </a:pPr>
            <a:r>
              <a:rPr sz="1500">
                <a:solidFill>
                  <a:srgbClr val="404040"/>
                </a:solidFill>
                <a:latin typeface="Calibri"/>
              </a:rPr>
              <a:t>•  Cisplatin -&gt; DNA damage + chronic inflammation + immune-evasive metabolism -&gt; apoptosis evasion + ECM remodelling -&gt; integrin/focal adhesion -&gt; Wnt/beta-catenin -&gt; EMT -&gt; stable resistance (PI3K-Akt as survival node).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652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5200"/>
            <a:ext cx="12192000" cy="63500"/>
          </a:xfrm>
          <a:prstGeom prst="rect">
            <a:avLst/>
          </a:prstGeom>
          <a:solidFill>
            <a:srgbClr val="2E9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1000" y="127000"/>
            <a:ext cx="11430000" cy="736600"/>
          </a:xfrm>
          <a:prstGeom prst="rect">
            <a:avLst/>
          </a:prstGeom>
          <a:noFill/>
        </p:spPr>
        <p:txBody>
          <a:bodyPr wrap="square" anchor="t">
            <a:spAutoFit/>
          </a:bodyPr>
          <a:lstStyle/>
          <a:p>
            <a:pPr algn="l"/>
            <a:r>
              <a:rPr sz="2600" b="1">
                <a:solidFill>
                  <a:srgbClr val="FFFFFF"/>
                </a:solidFill>
                <a:latin typeface="Calibri"/>
              </a:rPr>
              <a:t>Discussion (cont.)</a:t>
            </a:r>
          </a:p>
        </p:txBody>
      </p:sp>
      <p:sp>
        <p:nvSpPr>
          <p:cNvPr id="5" name="Rectangle 4"/>
          <p:cNvSpPr/>
          <p:nvPr/>
        </p:nvSpPr>
        <p:spPr>
          <a:xfrm>
            <a:off x="381000" y="6502400"/>
            <a:ext cx="11430000" cy="12700"/>
          </a:xfrm>
          <a:prstGeom prst="rect">
            <a:avLst/>
          </a:prstGeom>
          <a:solidFill>
            <a:srgbClr val="D2D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1000" y="6515100"/>
            <a:ext cx="9144000" cy="279400"/>
          </a:xfrm>
          <a:prstGeom prst="rect">
            <a:avLst/>
          </a:prstGeom>
          <a:noFill/>
        </p:spPr>
        <p:txBody>
          <a:bodyPr wrap="square" anchor="t">
            <a:spAutoFit/>
          </a:bodyPr>
          <a:lstStyle/>
          <a:p>
            <a:pPr algn="l"/>
            <a:r>
              <a:rPr sz="1000" b="0">
                <a:solidFill>
                  <a:srgbClr val="828A96"/>
                </a:solidFill>
                <a:latin typeface="Calibri"/>
              </a:rPr>
              <a:t>Transcriptomic Profiling of Drug-Resistant Cancer Cells</a:t>
            </a:r>
          </a:p>
        </p:txBody>
      </p:sp>
      <p:sp>
        <p:nvSpPr>
          <p:cNvPr id="7" name="TextBox 6"/>
          <p:cNvSpPr txBox="1"/>
          <p:nvPr/>
        </p:nvSpPr>
        <p:spPr>
          <a:xfrm>
            <a:off x="11303000" y="6515100"/>
            <a:ext cx="508000" cy="279400"/>
          </a:xfrm>
          <a:prstGeom prst="rect">
            <a:avLst/>
          </a:prstGeom>
          <a:noFill/>
        </p:spPr>
        <p:txBody>
          <a:bodyPr wrap="square" anchor="t">
            <a:spAutoFit/>
          </a:bodyPr>
          <a:lstStyle/>
          <a:p>
            <a:pPr algn="r"/>
            <a:r>
              <a:rPr sz="1000" b="0">
                <a:solidFill>
                  <a:srgbClr val="828A96"/>
                </a:solidFill>
                <a:latin typeface="Calibri"/>
              </a:rPr>
              <a:t>19</a:t>
            </a:r>
          </a:p>
        </p:txBody>
      </p:sp>
      <p:sp>
        <p:nvSpPr>
          <p:cNvPr id="8" name="TextBox 7"/>
          <p:cNvSpPr txBox="1"/>
          <p:nvPr/>
        </p:nvSpPr>
        <p:spPr>
          <a:xfrm>
            <a:off x="762000" y="1460500"/>
            <a:ext cx="10668000" cy="4889500"/>
          </a:xfrm>
          <a:prstGeom prst="rect">
            <a:avLst/>
          </a:prstGeom>
          <a:noFill/>
        </p:spPr>
        <p:txBody>
          <a:bodyPr wrap="square">
            <a:spAutoFit/>
          </a:bodyPr>
          <a:lstStyle/>
          <a:p>
            <a:pPr>
              <a:spcAft>
                <a:spcPts val="500"/>
              </a:spcAft>
            </a:pPr>
            <a:r>
              <a:rPr sz="1500">
                <a:solidFill>
                  <a:srgbClr val="404040"/>
                </a:solidFill>
                <a:latin typeface="Calibri"/>
              </a:rPr>
              <a:t>ML interpretation</a:t>
            </a:r>
          </a:p>
          <a:p>
            <a:pPr>
              <a:spcAft>
                <a:spcPts val="500"/>
              </a:spcAft>
            </a:pPr>
            <a:r>
              <a:rPr sz="1500">
                <a:solidFill>
                  <a:srgbClr val="404040"/>
                </a:solidFill>
                <a:latin typeface="Calibri"/>
              </a:rPr>
              <a:t>•  LOOCV near-perfect but reflects intrinsic cell-line separability (sanity check, not deployable).</a:t>
            </a:r>
          </a:p>
          <a:p>
            <a:pPr>
              <a:spcAft>
                <a:spcPts val="500"/>
              </a:spcAft>
            </a:pPr>
            <a:r>
              <a:rPr sz="1500">
                <a:solidFill>
                  <a:srgbClr val="404040"/>
                </a:solidFill>
                <a:latin typeface="Calibri"/>
              </a:rPr>
              <a:t>•  Cross-dataset transfer partial, asymmetric; strict leak-free mean AUC 0.61.</a:t>
            </a:r>
          </a:p>
          <a:p>
            <a:pPr>
              <a:spcAft>
                <a:spcPts val="500"/>
              </a:spcAft>
            </a:pPr>
            <a:r>
              <a:rPr sz="1500">
                <a:solidFill>
                  <a:srgbClr val="404040"/>
                </a:solidFill>
                <a:latin typeface="Calibri"/>
              </a:rPr>
              <a:t>Literature, limitations and future work</a:t>
            </a:r>
          </a:p>
          <a:p>
            <a:pPr>
              <a:spcAft>
                <a:spcPts val="500"/>
              </a:spcAft>
            </a:pPr>
            <a:r>
              <a:rPr sz="1500">
                <a:solidFill>
                  <a:srgbClr val="404040"/>
                </a:solidFill>
                <a:latin typeface="Calibri"/>
              </a:rPr>
              <a:t>•  Findings align with established EMT / ECM / PI3K-Akt / integrin resistance biology; low cross-dataset correlation matches known heterogeneity.</a:t>
            </a:r>
          </a:p>
          <a:p>
            <a:pPr>
              <a:spcAft>
                <a:spcPts val="500"/>
              </a:spcAft>
            </a:pPr>
            <a:r>
              <a:rPr sz="1500">
                <a:solidFill>
                  <a:srgbClr val="404040"/>
                </a:solidFill>
                <a:latin typeface="Calibri"/>
              </a:rPr>
              <a:t>•  Limitations: n = 12 (exploratory); n &lt;&lt; p; normalisation-dependent external results; cell lines miss tumour heterogeneity; no wet-lab validation.</a:t>
            </a:r>
          </a:p>
          <a:p>
            <a:pPr>
              <a:spcAft>
                <a:spcPts val="500"/>
              </a:spcAft>
            </a:pPr>
            <a:r>
              <a:rPr sz="1500">
                <a:solidFill>
                  <a:srgbClr val="404040"/>
                </a:solidFill>
                <a:latin typeface="Calibri"/>
              </a:rPr>
              <a:t>•  Future: add datasets/replicates; benchmark batch correction; pathway-level features; validate MAL2, GALNT6, NDRG1 and the EMT axis.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652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5200"/>
            <a:ext cx="12192000" cy="63500"/>
          </a:xfrm>
          <a:prstGeom prst="rect">
            <a:avLst/>
          </a:prstGeom>
          <a:solidFill>
            <a:srgbClr val="2E9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1000" y="127000"/>
            <a:ext cx="11430000" cy="736600"/>
          </a:xfrm>
          <a:prstGeom prst="rect">
            <a:avLst/>
          </a:prstGeom>
          <a:noFill/>
        </p:spPr>
        <p:txBody>
          <a:bodyPr wrap="square" anchor="t">
            <a:spAutoFit/>
          </a:bodyPr>
          <a:lstStyle/>
          <a:p>
            <a:pPr algn="l"/>
            <a:r>
              <a:rPr sz="2600" b="1">
                <a:solidFill>
                  <a:srgbClr val="FFFFFF"/>
                </a:solidFill>
                <a:latin typeface="Calibri"/>
              </a:rPr>
              <a:t>Conclusion</a:t>
            </a:r>
          </a:p>
        </p:txBody>
      </p:sp>
      <p:sp>
        <p:nvSpPr>
          <p:cNvPr id="5" name="Rectangle 4"/>
          <p:cNvSpPr/>
          <p:nvPr/>
        </p:nvSpPr>
        <p:spPr>
          <a:xfrm>
            <a:off x="381000" y="6502400"/>
            <a:ext cx="11430000" cy="12700"/>
          </a:xfrm>
          <a:prstGeom prst="rect">
            <a:avLst/>
          </a:prstGeom>
          <a:solidFill>
            <a:srgbClr val="D2D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1000" y="6515100"/>
            <a:ext cx="9144000" cy="279400"/>
          </a:xfrm>
          <a:prstGeom prst="rect">
            <a:avLst/>
          </a:prstGeom>
          <a:noFill/>
        </p:spPr>
        <p:txBody>
          <a:bodyPr wrap="square" anchor="t">
            <a:spAutoFit/>
          </a:bodyPr>
          <a:lstStyle/>
          <a:p>
            <a:pPr algn="l"/>
            <a:r>
              <a:rPr sz="1000" b="0">
                <a:solidFill>
                  <a:srgbClr val="828A96"/>
                </a:solidFill>
                <a:latin typeface="Calibri"/>
              </a:rPr>
              <a:t>Transcriptomic Profiling of Drug-Resistant Cancer Cells</a:t>
            </a:r>
          </a:p>
        </p:txBody>
      </p:sp>
      <p:sp>
        <p:nvSpPr>
          <p:cNvPr id="7" name="TextBox 6"/>
          <p:cNvSpPr txBox="1"/>
          <p:nvPr/>
        </p:nvSpPr>
        <p:spPr>
          <a:xfrm>
            <a:off x="11303000" y="6515100"/>
            <a:ext cx="508000" cy="279400"/>
          </a:xfrm>
          <a:prstGeom prst="rect">
            <a:avLst/>
          </a:prstGeom>
          <a:noFill/>
        </p:spPr>
        <p:txBody>
          <a:bodyPr wrap="square" anchor="t">
            <a:spAutoFit/>
          </a:bodyPr>
          <a:lstStyle/>
          <a:p>
            <a:pPr algn="r"/>
            <a:r>
              <a:rPr sz="1000" b="0">
                <a:solidFill>
                  <a:srgbClr val="828A96"/>
                </a:solidFill>
                <a:latin typeface="Calibri"/>
              </a:rPr>
              <a:t>20</a:t>
            </a:r>
          </a:p>
        </p:txBody>
      </p:sp>
      <p:sp>
        <p:nvSpPr>
          <p:cNvPr id="8" name="TextBox 7"/>
          <p:cNvSpPr txBox="1"/>
          <p:nvPr/>
        </p:nvSpPr>
        <p:spPr>
          <a:xfrm>
            <a:off x="762000" y="1460500"/>
            <a:ext cx="10668000" cy="4889500"/>
          </a:xfrm>
          <a:prstGeom prst="rect">
            <a:avLst/>
          </a:prstGeom>
          <a:noFill/>
        </p:spPr>
        <p:txBody>
          <a:bodyPr wrap="square">
            <a:spAutoFit/>
          </a:bodyPr>
          <a:lstStyle/>
          <a:p>
            <a:pPr>
              <a:spcAft>
                <a:spcPts val="500"/>
              </a:spcAft>
            </a:pPr>
            <a:r>
              <a:rPr sz="1500">
                <a:solidFill>
                  <a:srgbClr val="404040"/>
                </a:solidFill>
                <a:latin typeface="Calibri"/>
              </a:rPr>
              <a:t>•  Reproducible end-to-end transcriptomic + ML analysis of cisplatin resistance across two independent RNA-seq datasets.</a:t>
            </a:r>
          </a:p>
          <a:p>
            <a:pPr>
              <a:spcAft>
                <a:spcPts val="500"/>
              </a:spcAft>
            </a:pPr>
            <a:r>
              <a:rPr sz="1500">
                <a:solidFill>
                  <a:srgbClr val="404040"/>
                </a:solidFill>
                <a:latin typeface="Calibri"/>
              </a:rPr>
              <a:t>•  Cross-dataset validation isolated a core signature of consistently regulated genes.</a:t>
            </a:r>
          </a:p>
          <a:p>
            <a:pPr>
              <a:spcAft>
                <a:spcPts val="500"/>
              </a:spcAft>
            </a:pPr>
            <a:r>
              <a:rPr sz="1500">
                <a:solidFill>
                  <a:srgbClr val="404040"/>
                </a:solidFill>
                <a:latin typeface="Calibri"/>
              </a:rPr>
              <a:t>•  Enrichment converged on ECM remodelling, adhesion and PI3K-Akt / focal-adhesion / integrin / cadherin pathways, with EMT dominant.</a:t>
            </a:r>
          </a:p>
          <a:p>
            <a:pPr>
              <a:spcAft>
                <a:spcPts val="500"/>
              </a:spcAft>
            </a:pPr>
            <a:r>
              <a:rPr sz="1500">
                <a:solidFill>
                  <a:srgbClr val="404040"/>
                </a:solidFill>
                <a:latin typeface="Calibri"/>
              </a:rPr>
              <a:t>•  Classifiers separate phenotypes within a cell line, but cross-dataset transfer is partial, asymmetric and weakens under leak-free normalisation.</a:t>
            </a:r>
          </a:p>
          <a:p>
            <a:pPr>
              <a:spcAft>
                <a:spcPts val="500"/>
              </a:spcAft>
            </a:pPr>
            <a:r>
              <a:rPr sz="1500">
                <a:solidFill>
                  <a:srgbClr val="404040"/>
                </a:solidFill>
                <a:latin typeface="Calibri"/>
              </a:rPr>
              <a:t>•  A 30-gene candidate panel (MAL2, GALNT6, ...) plus NDRG1 nominated for follow-up.</a:t>
            </a:r>
          </a:p>
          <a:p>
            <a:pPr>
              <a:spcAft>
                <a:spcPts val="500"/>
              </a:spcAft>
            </a:pPr>
            <a:r>
              <a:rPr sz="1500">
                <a:solidFill>
                  <a:srgbClr val="404040"/>
                </a:solidFill>
                <a:latin typeface="Calibri"/>
              </a:rPr>
              <a:t>•  Deliverables: reproducible pipeline, publication-quality figures and an interactive dashboard, adaptable to other cancers/drugs/datasets.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652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5200"/>
            <a:ext cx="12192000" cy="63500"/>
          </a:xfrm>
          <a:prstGeom prst="rect">
            <a:avLst/>
          </a:prstGeom>
          <a:solidFill>
            <a:srgbClr val="2E9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1000" y="127000"/>
            <a:ext cx="11430000" cy="736600"/>
          </a:xfrm>
          <a:prstGeom prst="rect">
            <a:avLst/>
          </a:prstGeom>
          <a:noFill/>
        </p:spPr>
        <p:txBody>
          <a:bodyPr wrap="square" anchor="t">
            <a:spAutoFit/>
          </a:bodyPr>
          <a:lstStyle/>
          <a:p>
            <a:pPr algn="l"/>
            <a:r>
              <a:rPr sz="2600" b="1">
                <a:solidFill>
                  <a:srgbClr val="FFFFFF"/>
                </a:solidFill>
                <a:latin typeface="Calibri"/>
              </a:rPr>
              <a:t>References</a:t>
            </a:r>
          </a:p>
        </p:txBody>
      </p:sp>
      <p:sp>
        <p:nvSpPr>
          <p:cNvPr id="5" name="Rectangle 4"/>
          <p:cNvSpPr/>
          <p:nvPr/>
        </p:nvSpPr>
        <p:spPr>
          <a:xfrm>
            <a:off x="381000" y="6502400"/>
            <a:ext cx="11430000" cy="12700"/>
          </a:xfrm>
          <a:prstGeom prst="rect">
            <a:avLst/>
          </a:prstGeom>
          <a:solidFill>
            <a:srgbClr val="D2D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1000" y="6515100"/>
            <a:ext cx="9144000" cy="279400"/>
          </a:xfrm>
          <a:prstGeom prst="rect">
            <a:avLst/>
          </a:prstGeom>
          <a:noFill/>
        </p:spPr>
        <p:txBody>
          <a:bodyPr wrap="square" anchor="t">
            <a:spAutoFit/>
          </a:bodyPr>
          <a:lstStyle/>
          <a:p>
            <a:pPr algn="l"/>
            <a:r>
              <a:rPr sz="1000" b="0">
                <a:solidFill>
                  <a:srgbClr val="828A96"/>
                </a:solidFill>
                <a:latin typeface="Calibri"/>
              </a:rPr>
              <a:t>Transcriptomic Profiling of Drug-Resistant Cancer Cells</a:t>
            </a:r>
          </a:p>
        </p:txBody>
      </p:sp>
      <p:sp>
        <p:nvSpPr>
          <p:cNvPr id="7" name="TextBox 6"/>
          <p:cNvSpPr txBox="1"/>
          <p:nvPr/>
        </p:nvSpPr>
        <p:spPr>
          <a:xfrm>
            <a:off x="11303000" y="6515100"/>
            <a:ext cx="508000" cy="279400"/>
          </a:xfrm>
          <a:prstGeom prst="rect">
            <a:avLst/>
          </a:prstGeom>
          <a:noFill/>
        </p:spPr>
        <p:txBody>
          <a:bodyPr wrap="square" anchor="t">
            <a:spAutoFit/>
          </a:bodyPr>
          <a:lstStyle/>
          <a:p>
            <a:pPr algn="r"/>
            <a:r>
              <a:rPr sz="1000" b="0">
                <a:solidFill>
                  <a:srgbClr val="828A96"/>
                </a:solidFill>
                <a:latin typeface="Calibri"/>
              </a:rPr>
              <a:t>21</a:t>
            </a:r>
          </a:p>
        </p:txBody>
      </p:sp>
      <p:sp>
        <p:nvSpPr>
          <p:cNvPr id="8" name="TextBox 7"/>
          <p:cNvSpPr txBox="1"/>
          <p:nvPr/>
        </p:nvSpPr>
        <p:spPr>
          <a:xfrm>
            <a:off x="508000" y="1168400"/>
            <a:ext cx="11176000" cy="5270500"/>
          </a:xfrm>
          <a:prstGeom prst="rect">
            <a:avLst/>
          </a:prstGeom>
          <a:noFill/>
        </p:spPr>
        <p:txBody>
          <a:bodyPr wrap="square">
            <a:spAutoFit/>
          </a:bodyPr>
          <a:lstStyle/>
          <a:p>
            <a:pPr>
              <a:spcAft>
                <a:spcPts val="300"/>
              </a:spcAft>
            </a:pPr>
            <a:r>
              <a:rPr b="1" sz="900">
                <a:solidFill>
                  <a:srgbClr val="2E9CCA"/>
                </a:solidFill>
                <a:latin typeface="Calibri"/>
              </a:rPr>
              <a:t>[1] </a:t>
            </a:r>
            <a:r>
              <a:rPr sz="900">
                <a:solidFill>
                  <a:srgbClr val="404040"/>
                </a:solidFill>
                <a:latin typeface="Calibri"/>
              </a:rPr>
              <a:t>Cardenas H, Wang Y, Zhao G, Hao DX, Isac AM, Hernandez V, Kim U, Qiang W, Zhang HF, Matei D. Metabolic dependency on de novo pyrimidine synthesis is a targetable vulnerability in platinum-resistant ovarian cancer. Cancer Res. 2026;86(2):387–401. doi:10.1158/0008-5472.CAN-25-0043.</a:t>
            </a:r>
          </a:p>
          <a:p>
            <a:pPr>
              <a:spcAft>
                <a:spcPts val="300"/>
              </a:spcAft>
            </a:pPr>
            <a:r>
              <a:rPr b="1" sz="900">
                <a:solidFill>
                  <a:srgbClr val="2E9CCA"/>
                </a:solidFill>
                <a:latin typeface="Calibri"/>
              </a:rPr>
              <a:t>[2] </a:t>
            </a:r>
            <a:r>
              <a:rPr sz="900">
                <a:solidFill>
                  <a:srgbClr val="404040"/>
                </a:solidFill>
                <a:latin typeface="Calibri"/>
              </a:rPr>
              <a:t>Zhu Y, Chen X, Tang R, Li G, Yang J, Hong S. Comprehensive analysis of hub genes associated with cisplatin-resistance in ovarian cancer and screening of therapeutic drugs through bioinformatics and experimental validation. J Ovarian Res. 2024;17(1):142. doi:10.1186/s13048-024-01461-w.</a:t>
            </a:r>
          </a:p>
          <a:p>
            <a:pPr>
              <a:spcAft>
                <a:spcPts val="300"/>
              </a:spcAft>
            </a:pPr>
            <a:r>
              <a:rPr b="1" sz="900">
                <a:solidFill>
                  <a:srgbClr val="2E9CCA"/>
                </a:solidFill>
                <a:latin typeface="Calibri"/>
              </a:rPr>
              <a:t>[3] </a:t>
            </a:r>
            <a:r>
              <a:rPr sz="900">
                <a:solidFill>
                  <a:srgbClr val="404040"/>
                </a:solidFill>
                <a:latin typeface="Calibri"/>
              </a:rPr>
              <a:t>de Souza JC, Pimenta TM, Martins BDS, Padilha JMS, Butzene SMS, Marçal MG, Rangel LBA. Inflammasome activation contributes to cisplatin resistance in ovarian cancer. J Ovarian Res. 2025;18(1):294. doi:10.1186/s13048-025-01852-7.</a:t>
            </a:r>
          </a:p>
          <a:p>
            <a:pPr>
              <a:spcAft>
                <a:spcPts val="300"/>
              </a:spcAft>
            </a:pPr>
            <a:r>
              <a:rPr b="1" sz="900">
                <a:solidFill>
                  <a:srgbClr val="2E9CCA"/>
                </a:solidFill>
                <a:latin typeface="Calibri"/>
              </a:rPr>
              <a:t>[4] </a:t>
            </a:r>
            <a:r>
              <a:rPr sz="900">
                <a:solidFill>
                  <a:srgbClr val="404040"/>
                </a:solidFill>
                <a:latin typeface="Calibri"/>
              </a:rPr>
              <a:t>Alghamian Y, Soukkarieh C, Abbady AQ, Murad H. Investigation of role of CpG methylation in some epithelial mesenchymal transition gene in a chemoresistant ovarian cancer cell line. Sci Rep. 2022;12(1):7494. doi:10.1038/s41598-022-11634-6.</a:t>
            </a:r>
          </a:p>
          <a:p>
            <a:pPr>
              <a:spcAft>
                <a:spcPts val="300"/>
              </a:spcAft>
            </a:pPr>
            <a:r>
              <a:rPr b="1" sz="900">
                <a:solidFill>
                  <a:srgbClr val="2E9CCA"/>
                </a:solidFill>
                <a:latin typeface="Calibri"/>
              </a:rPr>
              <a:t>[5] </a:t>
            </a:r>
            <a:r>
              <a:rPr sz="900">
                <a:solidFill>
                  <a:srgbClr val="404040"/>
                </a:solidFill>
                <a:latin typeface="Calibri"/>
              </a:rPr>
              <a:t>Zeller C, Dai W, Steele NL, Siddiq A, Walley AJ, Wilhelm-Benartzi CS, Rizzo S, van der Zee A, Plumb JA, Brown R. Candidate DNA methylation drivers of acquired cisplatin resistance in ovarian cancer identified by methylome and expression profiling. Oncogene. 2012;31(42):4567–4576. doi:10.1038/onc.2011.611.</a:t>
            </a:r>
          </a:p>
          <a:p>
            <a:pPr>
              <a:spcAft>
                <a:spcPts val="300"/>
              </a:spcAft>
            </a:pPr>
            <a:r>
              <a:rPr b="1" sz="900">
                <a:solidFill>
                  <a:srgbClr val="2E9CCA"/>
                </a:solidFill>
                <a:latin typeface="Calibri"/>
              </a:rPr>
              <a:t>[6] </a:t>
            </a:r>
            <a:r>
              <a:rPr sz="900">
                <a:solidFill>
                  <a:srgbClr val="404040"/>
                </a:solidFill>
                <a:latin typeface="Calibri"/>
              </a:rPr>
              <a:t>Januchowski R, Świerczewska M, Sterzyńska K, Wojtowicz K, Nowicki M, Zabel M. Increased expression of several collagen genes is associated with drug resistance in ovarian cancer cell lines. J Cancer. 2016;7(10):1295–1310. doi:10.7150/jca.15371.</a:t>
            </a:r>
          </a:p>
          <a:p>
            <a:pPr>
              <a:spcAft>
                <a:spcPts val="300"/>
              </a:spcAft>
            </a:pPr>
            <a:r>
              <a:rPr b="1" sz="900">
                <a:solidFill>
                  <a:srgbClr val="2E9CCA"/>
                </a:solidFill>
                <a:latin typeface="Calibri"/>
              </a:rPr>
              <a:t>[7] </a:t>
            </a:r>
            <a:r>
              <a:rPr sz="900">
                <a:solidFill>
                  <a:srgbClr val="404040"/>
                </a:solidFill>
                <a:latin typeface="Calibri"/>
              </a:rPr>
              <a:t>Yu PN, Yan MD, Lai HC, Huang RL, Chou YC, Lin WC, Yeh LT, Lin YW. Downregulation of miR-29 contributes to cisplatin resistance of ovarian cancer cells. Int J Cancer. 2014;134(3):542–551. doi:10.1002/ijc.28399.</a:t>
            </a:r>
          </a:p>
          <a:p>
            <a:pPr>
              <a:spcAft>
                <a:spcPts val="300"/>
              </a:spcAft>
            </a:pPr>
            <a:r>
              <a:rPr b="1" sz="900">
                <a:solidFill>
                  <a:srgbClr val="2E9CCA"/>
                </a:solidFill>
                <a:latin typeface="Calibri"/>
              </a:rPr>
              <a:t>[8] </a:t>
            </a:r>
            <a:r>
              <a:rPr sz="900">
                <a:solidFill>
                  <a:srgbClr val="404040"/>
                </a:solidFill>
                <a:latin typeface="Calibri"/>
              </a:rPr>
              <a:t>Chen S, Yang G, Shi Q, Wan N, Lin R, Wang L, Hu X, Zhuang X, Yu L, Sui M. Frizzled 6 endows high-grade serous ovarian cancer with stem-like properties and chemoresistance. Mol Carcinog. 2024;63(10):2001–2012. doi:10.1002/mc.23789.</a:t>
            </a:r>
          </a:p>
          <a:p>
            <a:pPr>
              <a:spcAft>
                <a:spcPts val="300"/>
              </a:spcAft>
            </a:pPr>
            <a:r>
              <a:rPr b="1" sz="900">
                <a:solidFill>
                  <a:srgbClr val="2E9CCA"/>
                </a:solidFill>
                <a:latin typeface="Calibri"/>
              </a:rPr>
              <a:t>[9] </a:t>
            </a:r>
            <a:r>
              <a:rPr sz="900">
                <a:solidFill>
                  <a:srgbClr val="404040"/>
                </a:solidFill>
                <a:latin typeface="Calibri"/>
              </a:rPr>
              <a:t>Tersigni C, Onori M, Buzzonetti A, et al. Diagnostic performance of circulating EpCAM+ and CD45+ extracellular vesicles in platinum-sensitivity in high-grade serous ovarian cancer: a pilot study. J Ovarian Res. 2025;18(1):93. doi:10.1186/s13048-025-01656-9.</a:t>
            </a:r>
          </a:p>
          <a:p>
            <a:pPr>
              <a:spcAft>
                <a:spcPts val="300"/>
              </a:spcAft>
            </a:pPr>
            <a:r>
              <a:rPr b="1" sz="900">
                <a:solidFill>
                  <a:srgbClr val="2E9CCA"/>
                </a:solidFill>
                <a:latin typeface="Calibri"/>
              </a:rPr>
              <a:t>[10] </a:t>
            </a:r>
            <a:r>
              <a:rPr sz="900">
                <a:solidFill>
                  <a:srgbClr val="404040"/>
                </a:solidFill>
                <a:latin typeface="Calibri"/>
              </a:rPr>
              <a:t>Wang F, Yue QF, Zhang Y, Lei FL. Synergistic overcoming of cisplatin resistance in ovarian cancer by combined Astragalus membranaceus and cisplatin treatment: network pharmacology and experimental validation. BMC Complement Med Ther. 2025;25(1):337. doi:10.1186/s12906-025-05066-8.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652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5200"/>
            <a:ext cx="12192000" cy="63500"/>
          </a:xfrm>
          <a:prstGeom prst="rect">
            <a:avLst/>
          </a:prstGeom>
          <a:solidFill>
            <a:srgbClr val="2E9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1000" y="127000"/>
            <a:ext cx="11430000" cy="736600"/>
          </a:xfrm>
          <a:prstGeom prst="rect">
            <a:avLst/>
          </a:prstGeom>
          <a:noFill/>
        </p:spPr>
        <p:txBody>
          <a:bodyPr wrap="square" anchor="t">
            <a:spAutoFit/>
          </a:bodyPr>
          <a:lstStyle/>
          <a:p>
            <a:pPr algn="l"/>
            <a:r>
              <a:rPr sz="2600" b="1">
                <a:solidFill>
                  <a:srgbClr val="FFFFFF"/>
                </a:solidFill>
                <a:latin typeface="Calibri"/>
              </a:rPr>
              <a:t>References</a:t>
            </a:r>
          </a:p>
        </p:txBody>
      </p:sp>
      <p:sp>
        <p:nvSpPr>
          <p:cNvPr id="5" name="Rectangle 4"/>
          <p:cNvSpPr/>
          <p:nvPr/>
        </p:nvSpPr>
        <p:spPr>
          <a:xfrm>
            <a:off x="381000" y="6502400"/>
            <a:ext cx="11430000" cy="12700"/>
          </a:xfrm>
          <a:prstGeom prst="rect">
            <a:avLst/>
          </a:prstGeom>
          <a:solidFill>
            <a:srgbClr val="D2D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1000" y="6515100"/>
            <a:ext cx="9144000" cy="279400"/>
          </a:xfrm>
          <a:prstGeom prst="rect">
            <a:avLst/>
          </a:prstGeom>
          <a:noFill/>
        </p:spPr>
        <p:txBody>
          <a:bodyPr wrap="square" anchor="t">
            <a:spAutoFit/>
          </a:bodyPr>
          <a:lstStyle/>
          <a:p>
            <a:pPr algn="l"/>
            <a:r>
              <a:rPr sz="1000" b="0">
                <a:solidFill>
                  <a:srgbClr val="828A96"/>
                </a:solidFill>
                <a:latin typeface="Calibri"/>
              </a:rPr>
              <a:t>Transcriptomic Profiling of Drug-Resistant Cancer Cells</a:t>
            </a:r>
          </a:p>
        </p:txBody>
      </p:sp>
      <p:sp>
        <p:nvSpPr>
          <p:cNvPr id="7" name="TextBox 6"/>
          <p:cNvSpPr txBox="1"/>
          <p:nvPr/>
        </p:nvSpPr>
        <p:spPr>
          <a:xfrm>
            <a:off x="11303000" y="6515100"/>
            <a:ext cx="508000" cy="279400"/>
          </a:xfrm>
          <a:prstGeom prst="rect">
            <a:avLst/>
          </a:prstGeom>
          <a:noFill/>
        </p:spPr>
        <p:txBody>
          <a:bodyPr wrap="square" anchor="t">
            <a:spAutoFit/>
          </a:bodyPr>
          <a:lstStyle/>
          <a:p>
            <a:pPr algn="r"/>
            <a:r>
              <a:rPr sz="1000" b="0">
                <a:solidFill>
                  <a:srgbClr val="828A96"/>
                </a:solidFill>
                <a:latin typeface="Calibri"/>
              </a:rPr>
              <a:t>22</a:t>
            </a:r>
          </a:p>
        </p:txBody>
      </p:sp>
      <p:sp>
        <p:nvSpPr>
          <p:cNvPr id="8" name="TextBox 7"/>
          <p:cNvSpPr txBox="1"/>
          <p:nvPr/>
        </p:nvSpPr>
        <p:spPr>
          <a:xfrm>
            <a:off x="508000" y="1168400"/>
            <a:ext cx="11176000" cy="5270500"/>
          </a:xfrm>
          <a:prstGeom prst="rect">
            <a:avLst/>
          </a:prstGeom>
          <a:noFill/>
        </p:spPr>
        <p:txBody>
          <a:bodyPr wrap="square">
            <a:spAutoFit/>
          </a:bodyPr>
          <a:lstStyle/>
          <a:p>
            <a:pPr>
              <a:spcAft>
                <a:spcPts val="300"/>
              </a:spcAft>
            </a:pPr>
            <a:r>
              <a:rPr b="1" sz="900">
                <a:solidFill>
                  <a:srgbClr val="2E9CCA"/>
                </a:solidFill>
                <a:latin typeface="Calibri"/>
              </a:rPr>
              <a:t>[11] </a:t>
            </a:r>
            <a:r>
              <a:rPr sz="900">
                <a:solidFill>
                  <a:srgbClr val="404040"/>
                </a:solidFill>
                <a:latin typeface="Calibri"/>
              </a:rPr>
              <a:t>Velmurugan P, Parsanathan R, Shankari G, et al. Pharmacological modulation of the tryptophan-kynurenine pathway by the intervention of indoleamine 2,3-dioxygenase 2 (IDO2) and kynureninase (KYNU) in ovarian cancer. Curr Med Chem. 2026 (Epub). doi:10.2174/0109298673450210260701040244.</a:t>
            </a:r>
          </a:p>
          <a:p>
            <a:pPr>
              <a:spcAft>
                <a:spcPts val="300"/>
              </a:spcAft>
            </a:pPr>
            <a:r>
              <a:rPr b="1" sz="900">
                <a:solidFill>
                  <a:srgbClr val="2E9CCA"/>
                </a:solidFill>
                <a:latin typeface="Calibri"/>
              </a:rPr>
              <a:t>[12] </a:t>
            </a:r>
            <a:r>
              <a:rPr sz="900">
                <a:solidFill>
                  <a:srgbClr val="404040"/>
                </a:solidFill>
                <a:latin typeface="Calibri"/>
              </a:rPr>
              <a:t>Heng B, Bilgin AA, Lovejoy DB, et al. Differential kynurenine pathway metabolism in highly metastatic aggressive breast cancer subtypes: beyond IDO1-induced immunosuppression. Breast Cancer Res. 2020;22(1):113. doi:10.1186/s13058-020-01351-1.</a:t>
            </a:r>
          </a:p>
          <a:p>
            <a:pPr>
              <a:spcAft>
                <a:spcPts val="300"/>
              </a:spcAft>
            </a:pPr>
            <a:r>
              <a:rPr b="1" sz="900">
                <a:solidFill>
                  <a:srgbClr val="2E9CCA"/>
                </a:solidFill>
                <a:latin typeface="Calibri"/>
              </a:rPr>
              <a:t>[13] </a:t>
            </a:r>
            <a:r>
              <a:rPr sz="900">
                <a:solidFill>
                  <a:srgbClr val="404040"/>
                </a:solidFill>
                <a:latin typeface="Calibri"/>
              </a:rPr>
              <a:t>Mrkvicova A, Chmelarova M, Peterova E, Havelek R, Baranova I, Kazimirova P, Rudolf E, Rezacova M. The effect of sodium butyrate and cisplatin on expression of EMT markers. PLoS One. 2019;14(1):e0210889. doi:10.1371/journal.pone.0210889.</a:t>
            </a:r>
          </a:p>
          <a:p>
            <a:pPr>
              <a:spcAft>
                <a:spcPts val="300"/>
              </a:spcAft>
            </a:pPr>
            <a:r>
              <a:rPr b="1" sz="900">
                <a:solidFill>
                  <a:srgbClr val="2E9CCA"/>
                </a:solidFill>
                <a:latin typeface="Calibri"/>
              </a:rPr>
              <a:t>[14] </a:t>
            </a:r>
            <a:r>
              <a:rPr sz="900">
                <a:solidFill>
                  <a:srgbClr val="404040"/>
                </a:solidFill>
                <a:latin typeface="Calibri"/>
              </a:rPr>
              <a:t>Chiang YC, Chang MC, Chen PJ, Wu MM, Hsieh CY, Cheng WF, Chen CA. Epigenetic silencing of BLU through interfering apoptosis results in chemoresistance and poor prognosis of ovarian serous carcinoma patients. Endocr Relat Cancer. 2013;20(2):213–227. doi:10.1530/ERC-12-0117.</a:t>
            </a:r>
          </a:p>
          <a:p>
            <a:pPr>
              <a:spcAft>
                <a:spcPts val="300"/>
              </a:spcAft>
            </a:pPr>
            <a:r>
              <a:rPr b="1" sz="900">
                <a:solidFill>
                  <a:srgbClr val="2E9CCA"/>
                </a:solidFill>
                <a:latin typeface="Calibri"/>
              </a:rPr>
              <a:t>[15] </a:t>
            </a:r>
            <a:r>
              <a:rPr sz="900">
                <a:solidFill>
                  <a:srgbClr val="404040"/>
                </a:solidFill>
                <a:latin typeface="Calibri"/>
              </a:rPr>
              <a:t>Edgar R, Domrachev M, Lash AE. Gene Expression Omnibus: NCBI gene expression and hybridization array data repository. Nucleic Acids Res. 2002;30(1):207–210. doi:10.1093/nar/30.1.207.</a:t>
            </a:r>
          </a:p>
          <a:p>
            <a:pPr>
              <a:spcAft>
                <a:spcPts val="300"/>
              </a:spcAft>
            </a:pPr>
            <a:r>
              <a:rPr b="1" sz="900">
                <a:solidFill>
                  <a:srgbClr val="2E9CCA"/>
                </a:solidFill>
                <a:latin typeface="Calibri"/>
              </a:rPr>
              <a:t>[16] </a:t>
            </a:r>
            <a:r>
              <a:rPr sz="900">
                <a:solidFill>
                  <a:srgbClr val="404040"/>
                </a:solidFill>
                <a:latin typeface="Calibri"/>
              </a:rPr>
              <a:t>Barrett T, Wilhite SE, Ledoux P, et al. NCBI GEO: archive for functional genomics data sets—update. Nucleic Acids Res. 2013;41(Database issue):D991–D995. doi:10.1093/nar/gks1193.</a:t>
            </a:r>
          </a:p>
          <a:p>
            <a:pPr>
              <a:spcAft>
                <a:spcPts val="300"/>
              </a:spcAft>
            </a:pPr>
            <a:r>
              <a:rPr b="1" sz="900">
                <a:solidFill>
                  <a:srgbClr val="2E9CCA"/>
                </a:solidFill>
                <a:latin typeface="Calibri"/>
              </a:rPr>
              <a:t>[17] </a:t>
            </a:r>
            <a:r>
              <a:rPr sz="900">
                <a:solidFill>
                  <a:srgbClr val="404040"/>
                </a:solidFill>
                <a:latin typeface="Calibri"/>
              </a:rPr>
              <a:t>Love MI, Huber W, Anders S. Moderated estimation of fold change and dispersion for RNA-seq data with DESeq2. Genome Biol. 2014;15(12):550. doi:10.1186/s13059-014-0550-8.</a:t>
            </a:r>
          </a:p>
          <a:p>
            <a:pPr>
              <a:spcAft>
                <a:spcPts val="300"/>
              </a:spcAft>
            </a:pPr>
            <a:r>
              <a:rPr b="1" sz="900">
                <a:solidFill>
                  <a:srgbClr val="2E9CCA"/>
                </a:solidFill>
                <a:latin typeface="Calibri"/>
              </a:rPr>
              <a:t>[18] </a:t>
            </a:r>
            <a:r>
              <a:rPr sz="900">
                <a:solidFill>
                  <a:srgbClr val="404040"/>
                </a:solidFill>
                <a:latin typeface="Calibri"/>
              </a:rPr>
              <a:t>Wu T, Hu E, Xu S, et al. clusterProfiler 4.0: A universal enrichment tool for interpreting omics data. Innovation (Camb). 2021;2(3):100141. doi:10.1016/j.xinn.2021.100141.</a:t>
            </a:r>
          </a:p>
          <a:p>
            <a:pPr>
              <a:spcAft>
                <a:spcPts val="300"/>
              </a:spcAft>
            </a:pPr>
            <a:r>
              <a:rPr b="1" sz="900">
                <a:solidFill>
                  <a:srgbClr val="2E9CCA"/>
                </a:solidFill>
                <a:latin typeface="Calibri"/>
              </a:rPr>
              <a:t>[19] </a:t>
            </a:r>
            <a:r>
              <a:rPr sz="900">
                <a:solidFill>
                  <a:srgbClr val="404040"/>
                </a:solidFill>
                <a:latin typeface="Calibri"/>
              </a:rPr>
              <a:t>Yu G, Wang LG, Han Y, He QY. clusterProfiler: an R package for comparing biological themes among gene clusters. OMICS. 2012;16(5):284–287. doi:10.1089/omi.2011.0118.</a:t>
            </a:r>
          </a:p>
          <a:p>
            <a:pPr>
              <a:spcAft>
                <a:spcPts val="300"/>
              </a:spcAft>
            </a:pPr>
            <a:r>
              <a:rPr b="1" sz="900">
                <a:solidFill>
                  <a:srgbClr val="2E9CCA"/>
                </a:solidFill>
                <a:latin typeface="Calibri"/>
              </a:rPr>
              <a:t>[20] </a:t>
            </a:r>
            <a:r>
              <a:rPr sz="900">
                <a:solidFill>
                  <a:srgbClr val="404040"/>
                </a:solidFill>
                <a:latin typeface="Calibri"/>
              </a:rPr>
              <a:t>Kanehisa M, Goto S. KEGG: Kyoto Encyclopedia of Genes and Genomes. Nucleic Acids Res. 2000;28(1):27–30. doi:10.1093/nar/28.1.27.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652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5200"/>
            <a:ext cx="12192000" cy="63500"/>
          </a:xfrm>
          <a:prstGeom prst="rect">
            <a:avLst/>
          </a:prstGeom>
          <a:solidFill>
            <a:srgbClr val="2E9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1000" y="127000"/>
            <a:ext cx="11430000" cy="736600"/>
          </a:xfrm>
          <a:prstGeom prst="rect">
            <a:avLst/>
          </a:prstGeom>
          <a:noFill/>
        </p:spPr>
        <p:txBody>
          <a:bodyPr wrap="square" anchor="t">
            <a:spAutoFit/>
          </a:bodyPr>
          <a:lstStyle/>
          <a:p>
            <a:pPr algn="l"/>
            <a:r>
              <a:rPr sz="2600" b="1">
                <a:solidFill>
                  <a:srgbClr val="FFFFFF"/>
                </a:solidFill>
                <a:latin typeface="Calibri"/>
              </a:rPr>
              <a:t>References</a:t>
            </a:r>
          </a:p>
        </p:txBody>
      </p:sp>
      <p:sp>
        <p:nvSpPr>
          <p:cNvPr id="5" name="Rectangle 4"/>
          <p:cNvSpPr/>
          <p:nvPr/>
        </p:nvSpPr>
        <p:spPr>
          <a:xfrm>
            <a:off x="381000" y="6502400"/>
            <a:ext cx="11430000" cy="12700"/>
          </a:xfrm>
          <a:prstGeom prst="rect">
            <a:avLst/>
          </a:prstGeom>
          <a:solidFill>
            <a:srgbClr val="D2D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1000" y="6515100"/>
            <a:ext cx="9144000" cy="279400"/>
          </a:xfrm>
          <a:prstGeom prst="rect">
            <a:avLst/>
          </a:prstGeom>
          <a:noFill/>
        </p:spPr>
        <p:txBody>
          <a:bodyPr wrap="square" anchor="t">
            <a:spAutoFit/>
          </a:bodyPr>
          <a:lstStyle/>
          <a:p>
            <a:pPr algn="l"/>
            <a:r>
              <a:rPr sz="1000" b="0">
                <a:solidFill>
                  <a:srgbClr val="828A96"/>
                </a:solidFill>
                <a:latin typeface="Calibri"/>
              </a:rPr>
              <a:t>Transcriptomic Profiling of Drug-Resistant Cancer Cells</a:t>
            </a:r>
          </a:p>
        </p:txBody>
      </p:sp>
      <p:sp>
        <p:nvSpPr>
          <p:cNvPr id="7" name="TextBox 6"/>
          <p:cNvSpPr txBox="1"/>
          <p:nvPr/>
        </p:nvSpPr>
        <p:spPr>
          <a:xfrm>
            <a:off x="11303000" y="6515100"/>
            <a:ext cx="508000" cy="279400"/>
          </a:xfrm>
          <a:prstGeom prst="rect">
            <a:avLst/>
          </a:prstGeom>
          <a:noFill/>
        </p:spPr>
        <p:txBody>
          <a:bodyPr wrap="square" anchor="t">
            <a:spAutoFit/>
          </a:bodyPr>
          <a:lstStyle/>
          <a:p>
            <a:pPr algn="r"/>
            <a:r>
              <a:rPr sz="1000" b="0">
                <a:solidFill>
                  <a:srgbClr val="828A96"/>
                </a:solidFill>
                <a:latin typeface="Calibri"/>
              </a:rPr>
              <a:t>23</a:t>
            </a:r>
          </a:p>
        </p:txBody>
      </p:sp>
      <p:sp>
        <p:nvSpPr>
          <p:cNvPr id="8" name="TextBox 7"/>
          <p:cNvSpPr txBox="1"/>
          <p:nvPr/>
        </p:nvSpPr>
        <p:spPr>
          <a:xfrm>
            <a:off x="508000" y="1168400"/>
            <a:ext cx="11176000" cy="5270500"/>
          </a:xfrm>
          <a:prstGeom prst="rect">
            <a:avLst/>
          </a:prstGeom>
          <a:noFill/>
        </p:spPr>
        <p:txBody>
          <a:bodyPr wrap="square">
            <a:spAutoFit/>
          </a:bodyPr>
          <a:lstStyle/>
          <a:p>
            <a:pPr>
              <a:spcAft>
                <a:spcPts val="300"/>
              </a:spcAft>
            </a:pPr>
            <a:r>
              <a:rPr b="1" sz="900">
                <a:solidFill>
                  <a:srgbClr val="2E9CCA"/>
                </a:solidFill>
                <a:latin typeface="Calibri"/>
              </a:rPr>
              <a:t>[21] </a:t>
            </a:r>
            <a:r>
              <a:rPr sz="900">
                <a:solidFill>
                  <a:srgbClr val="404040"/>
                </a:solidFill>
                <a:latin typeface="Calibri"/>
              </a:rPr>
              <a:t>Friedman J, Hastie T, Tibshirani R. Regularization paths for generalized linear models via coordinate descent. J Stat Softw. 2010;33(1):1–22. doi:10.18637/jss.v033.i01.</a:t>
            </a:r>
          </a:p>
          <a:p>
            <a:pPr>
              <a:spcAft>
                <a:spcPts val="300"/>
              </a:spcAft>
            </a:pPr>
            <a:r>
              <a:rPr b="1" sz="900">
                <a:solidFill>
                  <a:srgbClr val="2E9CCA"/>
                </a:solidFill>
                <a:latin typeface="Calibri"/>
              </a:rPr>
              <a:t>[22] </a:t>
            </a:r>
            <a:r>
              <a:rPr sz="900">
                <a:solidFill>
                  <a:srgbClr val="404040"/>
                </a:solidFill>
                <a:latin typeface="Calibri"/>
              </a:rPr>
              <a:t>Wright MN, Ziegler A. ranger: A fast implementation of random forests for high dimensional data in C++ and R. J Stat Softw. 2017;77(1):1–17. doi:10.18637/jss.v077.i01.</a:t>
            </a:r>
          </a:p>
          <a:p>
            <a:pPr>
              <a:spcAft>
                <a:spcPts val="300"/>
              </a:spcAft>
            </a:pPr>
            <a:r>
              <a:rPr b="1" sz="900">
                <a:solidFill>
                  <a:srgbClr val="2E9CCA"/>
                </a:solidFill>
                <a:latin typeface="Calibri"/>
              </a:rPr>
              <a:t>[23] </a:t>
            </a:r>
            <a:r>
              <a:rPr sz="900">
                <a:solidFill>
                  <a:srgbClr val="404040"/>
                </a:solidFill>
                <a:latin typeface="Calibri"/>
              </a:rPr>
              <a:t>Meyer D, Dimitriadou E, Hornik K, Weingessel A, Leisch F. e1071: Misc Functions of the Department of Statistics, Probability Theory and Its Applications. R package.</a:t>
            </a:r>
          </a:p>
          <a:p>
            <a:pPr>
              <a:spcAft>
                <a:spcPts val="300"/>
              </a:spcAft>
            </a:pPr>
            <a:r>
              <a:rPr b="1" sz="900">
                <a:solidFill>
                  <a:srgbClr val="2E9CCA"/>
                </a:solidFill>
                <a:latin typeface="Calibri"/>
              </a:rPr>
              <a:t>[24] </a:t>
            </a:r>
            <a:r>
              <a:rPr sz="900">
                <a:solidFill>
                  <a:srgbClr val="404040"/>
                </a:solidFill>
                <a:latin typeface="Calibri"/>
              </a:rPr>
              <a:t>Blighe K, Rana S, Lewis M. EnhancedVolcano: Publication-ready volcano plots with enhanced colouring and labeling. R package (Bioconductor).</a:t>
            </a:r>
          </a:p>
          <a:p>
            <a:pPr>
              <a:spcAft>
                <a:spcPts val="300"/>
              </a:spcAft>
            </a:pPr>
            <a:r>
              <a:rPr b="1" sz="900">
                <a:solidFill>
                  <a:srgbClr val="2E9CCA"/>
                </a:solidFill>
                <a:latin typeface="Calibri"/>
              </a:rPr>
              <a:t>[25] </a:t>
            </a:r>
            <a:r>
              <a:rPr sz="900">
                <a:solidFill>
                  <a:srgbClr val="404040"/>
                </a:solidFill>
                <a:latin typeface="Calibri"/>
              </a:rPr>
              <a:t>Kolde R. pheatmap: Pretty Heatmaps. R package.</a:t>
            </a:r>
          </a:p>
          <a:p>
            <a:pPr>
              <a:spcAft>
                <a:spcPts val="300"/>
              </a:spcAft>
            </a:pPr>
            <a:r>
              <a:rPr b="1" sz="900">
                <a:solidFill>
                  <a:srgbClr val="2E9CCA"/>
                </a:solidFill>
                <a:latin typeface="Calibri"/>
              </a:rPr>
              <a:t>[26] </a:t>
            </a:r>
            <a:r>
              <a:rPr sz="900">
                <a:solidFill>
                  <a:srgbClr val="404040"/>
                </a:solidFill>
                <a:latin typeface="Calibri"/>
              </a:rPr>
              <a:t>Carlson M. org.Hs.eg.db: Genome wide annotation for Human. R package (Bioconductor).</a:t>
            </a:r>
          </a:p>
          <a:p>
            <a:pPr>
              <a:spcAft>
                <a:spcPts val="300"/>
              </a:spcAft>
            </a:pPr>
            <a:r>
              <a:rPr b="1" sz="900">
                <a:solidFill>
                  <a:srgbClr val="2E9CCA"/>
                </a:solidFill>
                <a:latin typeface="Calibri"/>
              </a:rPr>
              <a:t>[27] </a:t>
            </a:r>
            <a:r>
              <a:rPr sz="900">
                <a:solidFill>
                  <a:srgbClr val="404040"/>
                </a:solidFill>
                <a:latin typeface="Calibri"/>
              </a:rPr>
              <a:t>Varma S, Simon R. Bias in error estimation when using cross-validation for model selection. BMC Bioinformatics. 2006;7:91. doi:10.1186/1471-2105-7-91.</a:t>
            </a:r>
          </a:p>
          <a:p>
            <a:pPr>
              <a:spcAft>
                <a:spcPts val="300"/>
              </a:spcAft>
            </a:pPr>
            <a:r>
              <a:rPr b="1" sz="900">
                <a:solidFill>
                  <a:srgbClr val="2E9CCA"/>
                </a:solidFill>
                <a:latin typeface="Calibri"/>
              </a:rPr>
              <a:t>[28] </a:t>
            </a:r>
            <a:r>
              <a:rPr sz="900">
                <a:solidFill>
                  <a:srgbClr val="404040"/>
                </a:solidFill>
                <a:latin typeface="Calibri"/>
              </a:rPr>
              <a:t>Ambroise C, McLachlan GJ. Selection bias in gene extraction on the basis of microarray gene-expression data. Proc Natl Acad Sci USA. 2002;99(10):6562–6566. doi:10.1073/pnas.102102699.</a:t>
            </a:r>
          </a:p>
          <a:p>
            <a:pPr>
              <a:spcAft>
                <a:spcPts val="300"/>
              </a:spcAft>
            </a:pPr>
            <a:r>
              <a:rPr b="1" sz="900">
                <a:solidFill>
                  <a:srgbClr val="2E9CCA"/>
                </a:solidFill>
                <a:latin typeface="Calibri"/>
              </a:rPr>
              <a:t>[29] </a:t>
            </a:r>
            <a:r>
              <a:rPr sz="900">
                <a:solidFill>
                  <a:srgbClr val="404040"/>
                </a:solidFill>
                <a:latin typeface="Calibri"/>
              </a:rPr>
              <a:t>Guyon I, Elisseeff A. An introduction to variable and feature selection. J Mach Learn Res. 2003;3:1157–1182.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667000"/>
            <a:ext cx="12192000" cy="889000"/>
          </a:xfrm>
          <a:prstGeom prst="rect">
            <a:avLst/>
          </a:prstGeom>
          <a:noFill/>
        </p:spPr>
        <p:txBody>
          <a:bodyPr wrap="square" anchor="t">
            <a:spAutoFit/>
          </a:bodyPr>
          <a:lstStyle/>
          <a:p>
            <a:pPr algn="ctr"/>
            <a:r>
              <a:rPr sz="4400" b="1">
                <a:solidFill>
                  <a:srgbClr val="FFFFFF"/>
                </a:solidFill>
                <a:latin typeface="Calibri"/>
              </a:rPr>
              <a:t>Thank You</a:t>
            </a:r>
          </a:p>
        </p:txBody>
      </p:sp>
      <p:sp>
        <p:nvSpPr>
          <p:cNvPr id="4" name="TextBox 3"/>
          <p:cNvSpPr txBox="1"/>
          <p:nvPr/>
        </p:nvSpPr>
        <p:spPr>
          <a:xfrm>
            <a:off x="0" y="3683000"/>
            <a:ext cx="12192000" cy="508000"/>
          </a:xfrm>
          <a:prstGeom prst="rect">
            <a:avLst/>
          </a:prstGeom>
          <a:noFill/>
        </p:spPr>
        <p:txBody>
          <a:bodyPr wrap="square" anchor="t">
            <a:spAutoFit/>
          </a:bodyPr>
          <a:lstStyle/>
          <a:p>
            <a:pPr algn="ctr"/>
            <a:r>
              <a:rPr sz="2200" b="0">
                <a:solidFill>
                  <a:srgbClr val="2E9CCA"/>
                </a:solidFill>
                <a:latin typeface="Calibri"/>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