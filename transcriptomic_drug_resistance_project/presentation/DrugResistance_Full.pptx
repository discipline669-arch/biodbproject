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5EEAB-6065-46F9-AD8B-21209870EA0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45F67-BA11-40C5-9825-E10150A7A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29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Scope is exploratory biomarker discovery, not clinical validation (small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GSE303889 (SKOV-3, Yonsei, KDM5-mediated) and GSE283381 (OVCAR5, Northwestern, pyrimidine metabolism). 3 vs 3 replicates each, n=12.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GEO -&gt; preprocess/QC -&gt; DESeq2 per dataset -&gt; cross-dataset validation -&gt; parallel GO/KEGG and ML -&gt; final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Literature-supported: Wani 2025, Ghosh 2022, Li 2021, Zhu 2024, J Ovarian Res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DEG pre-filtering: avoids test leakage. Deterministic via fixed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000" y="3810000"/>
            <a:ext cx="10414000" cy="762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9000" y="2159000"/>
            <a:ext cx="10414000" cy="15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4038600"/>
            <a:ext cx="10414000" cy="10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2E0F0"/>
                </a:solidFill>
                <a:latin typeface="Calibri"/>
              </a:rPr>
              <a:t>Cisplatin resistance in ovarian cancer: differential expression, pathways &amp; machine-learning biomarkers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5588000"/>
            <a:ext cx="104140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A0BEDC"/>
                </a:solidFill>
              </a:rPr>
              <a:t>Anushree Tyagi 23BCB0108 : Data &amp; QC  </a:t>
            </a:r>
          </a:p>
          <a:p>
            <a:r>
              <a:rPr lang="en-US" sz="1400" dirty="0">
                <a:solidFill>
                  <a:srgbClr val="A0BEDC"/>
                </a:solidFill>
              </a:rPr>
              <a:t>Vivek Kumar 23BCB0137:  DEGs &amp; Biology  </a:t>
            </a:r>
          </a:p>
          <a:p>
            <a:r>
              <a:rPr lang="en-US" sz="1400" dirty="0">
                <a:solidFill>
                  <a:srgbClr val="A0BEDC"/>
                </a:solidFill>
              </a:rPr>
              <a:t>Solanki Nehal Shailesh 23BCB0076:  ML &amp; Biomarkers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651000"/>
            <a:ext cx="10668000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Background &amp; Objectives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Data &amp; Methods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Differential Expression Analysis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Cross-Dataset Validation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Functional Enrichment (GO / KEGG)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Machine Learning &amp; Biomarker Discovery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Key Findings, Limitations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Background: Ovarian Cancer &amp; Cisplatin Resistance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87500"/>
            <a:ext cx="1066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Ovarian cancer is the most lethal gynaecologic malignancy; platinum-based chemotherapy (cisplatin) is first-line.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Acquired platinum resistance underlies relapse and poor survival.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Resistance is multifactorial: epigenetic reprogramming, metabolic rewiring, EMT, drug efflux, apoptotic evasion.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Need reproducible transcriptomic signatures that generalise across independent resistance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Objectives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87500"/>
            <a:ext cx="1066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Identify differentially expressed genes (DEGs) between cisplatin-resistant and sensitive ovarian cancer cells.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Validate DEGs across two independent GEO datasets to reduce dataset-specific bias.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Characterise the affected biological processes and signalling pathways (GO / KEGG).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Build supervised classifiers and rank a compact candidate biomarker panel.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Deliver a fully reproducible end-to-end bioinformatics + ML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Data: Two Independent GEO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2000" y="1524000"/>
          <a:ext cx="10668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GSE303889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GSE283381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04040"/>
                          </a:solidFill>
                          <a:latin typeface="Calibri"/>
                        </a:rPr>
                        <a:t>Cell 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04040"/>
                          </a:solidFill>
                          <a:latin typeface="Calibri"/>
                        </a:rPr>
                        <a:t>SKOV-3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04040"/>
                          </a:solidFill>
                          <a:latin typeface="Calibri"/>
                        </a:rPr>
                        <a:t>OVCAR5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04040"/>
                          </a:solidFill>
                          <a:latin typeface="Calibri"/>
                        </a:rPr>
                        <a:t>Resistance model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04040"/>
                          </a:solidFill>
                          <a:latin typeface="Calibri"/>
                        </a:rPr>
                        <a:t>CDDP (chronic cisplatin)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04040"/>
                          </a:solidFill>
                          <a:latin typeface="Calibri"/>
                        </a:rPr>
                        <a:t>Cis-R (repeated cisplatin)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04040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04040"/>
                          </a:solidFill>
                          <a:latin typeface="Calibri"/>
                        </a:rPr>
                        <a:t>3 Sensitive vs 3 Resistant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04040"/>
                          </a:solidFill>
                          <a:latin typeface="Calibri"/>
                        </a:rPr>
                        <a:t>3 Sensitive vs 3 Resistant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0404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04040"/>
                          </a:solidFill>
                          <a:latin typeface="Calibri"/>
                        </a:rPr>
                        <a:t>Illumina NovaSeq 6000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04040"/>
                          </a:solidFill>
                          <a:latin typeface="Calibri"/>
                        </a:rPr>
                        <a:t>Illumina NextSeq 500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Analytical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7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GEO datasets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(2 studies)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5000" y="177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Preprocess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&amp; QC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0" y="177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DESeq2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per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000" y="431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Cross-dataset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5000" y="431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 / KEGG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enrichment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5000" y="4318000"/>
            <a:ext cx="3048000" cy="1016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ML biomarker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46500" y="2057400"/>
            <a:ext cx="508000" cy="45720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7556500" y="2057400"/>
            <a:ext cx="508000" cy="45720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9525000" y="2857500"/>
            <a:ext cx="457200" cy="508000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3746500" y="4597400"/>
            <a:ext cx="508000" cy="45720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556500" y="4597400"/>
            <a:ext cx="508000" cy="45720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Preprocessing &amp; Quality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87500"/>
            <a:ext cx="1066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Raw gene count matrices + sample metadata retrieved from NCBI GEO (2 datasets).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Low-count filtering: retained genes with rowSums &gt;= 10.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DESeq2 size-factor normalisation; log2(CPM + 1) transform.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Duplicate gene symbols collapsed (rowsum); intersect -&gt; 57,357 shared genes.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PCA and sample-clustering QC (seed 42 for reproducibility).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Differential Expression (DESeq2)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87500"/>
            <a:ext cx="1066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Design: ~ condition; negative-binomial GLM, Wald test.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Multiple testing: Benjamini-Hochberg FDR.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Significance thresholds: FDR &lt; 0.05  AND  |log2 fold change| &gt; 1.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Outputs per dataset: full DEG table, up/down lists, volcano, MA plot, top-DEG heatmap.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Reference level = Sensitive; contrast = Resistant vs Sensitive.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Dataset 1 (SKOV-3 / GSE303889) — DEG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461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GSE303889: SKOV-3 parental vs KDM5-mediated CDDP-resistant cells.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Total significant DEGs: 5,212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Up-regulated:  2,983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Down-regulated: 2,229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Extensive transcriptomic reprogramming on resistance acquisition.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Top down-regulated genes include CDH1 (E-cadherin) — EMT signal.</a:t>
            </a:r>
          </a:p>
        </p:txBody>
      </p:sp>
      <p:pic>
        <p:nvPicPr>
          <p:cNvPr id="9" name="Picture 8" descr="volcano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397000"/>
            <a:ext cx="54610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Dataset 2 (OVCAR5 / GSE283381) — DEG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461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GSE283381: OVCAR5 cisplatin-sensitive (Cis-S) vs resistant (Cis-R).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Total significant DEGs: 2,572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Up-regulated:    912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Down-regulated: 1,660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Up-regulated inflammatory / ECM genes (IL1A, IL1B, COL genes).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Distinct resistance mechanism vs Dataset 1.</a:t>
            </a:r>
          </a:p>
        </p:txBody>
      </p:sp>
      <p:pic>
        <p:nvPicPr>
          <p:cNvPr id="9" name="Picture 8" descr="volcano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397000"/>
            <a:ext cx="54610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Cross-Dataset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461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913 genes are differentially expressed in BOTH datasets (core signature).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198 shared up-regulated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220 shared down-regulated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495 with opposite direction (cell-line-specific)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Spearman correlation of shared log2FC ~ -0.04.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Low correlation is expected: distinct resistance mechanisms (epigenetic vs metabolic).</a:t>
            </a:r>
          </a:p>
        </p:txBody>
      </p:sp>
      <p:pic>
        <p:nvPicPr>
          <p:cNvPr id="9" name="Picture 8" descr="ven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333500"/>
            <a:ext cx="3386666" cy="2540000"/>
          </a:xfrm>
          <a:prstGeom prst="rect">
            <a:avLst/>
          </a:prstGeom>
        </p:spPr>
      </p:pic>
      <p:pic>
        <p:nvPicPr>
          <p:cNvPr id="10" name="Picture 9" descr="lfc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73500"/>
            <a:ext cx="3217333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Functional Enrichment — Gene Ontology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461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clusterProfiler enrichGO (BP focus), BH-adjusted, p &lt; 0.05.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Top enriched terms for shared DEGs: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Cell-substrate adhesion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Extracellular matrix organisation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Extracellular structure organisation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Ossification / axon guidance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ECM and adhesion processes dominate — hallmark of EMT.</a:t>
            </a:r>
          </a:p>
        </p:txBody>
      </p:sp>
      <p:pic>
        <p:nvPicPr>
          <p:cNvPr id="9" name="Picture 8" descr="GO_dotplot_Shared_DE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270000"/>
            <a:ext cx="4233333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Functional Enrichment — KEGG Pathways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461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enrichKEGG (hsa), BH-adjusted, p &lt; 0.05.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Convergent pathways in shared DEGs: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PI3K-Akt signalling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Focal adhesion / Integrin signalling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Cadherin signalling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Cytoskeleton / ECM-receptor interaction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Hippo signalling pathway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Survival, adhesion and cytoskeletal remodelling converge on resistance.</a:t>
            </a:r>
          </a:p>
        </p:txBody>
      </p:sp>
      <p:pic>
        <p:nvPicPr>
          <p:cNvPr id="9" name="Picture 8" descr="KEGG_dotplot_Shared_DE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270000"/>
            <a:ext cx="5715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Biological Model of Cisplatin Resistance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EMT (central): CDH1 down, EPCAM down, COL1A1/COL5A2/COL6A1 up, MMP14/MMP1 up.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Inflammation: IL1A up / IL1B up (NLRP3 inflammasome).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NDRG1 up — validated hub gene across 3 independent OC datasets.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KYNU up — kynurenine/AhR axis driving immune evasion.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SERPINE1 up — metastasis &amp; resistance effector.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Cisplatin -&gt; DNA damage -&gt; inflammation -&gt; apoptosis evasion + ECM remodelling -&gt; integrin/focal adhesion -&gt; EMT -&gt; RESISTANCE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Machine Learning: Design &amp; Leakage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Feature space: full intersected matrix (12 samples x 57,357 genes), log2(CPM+1).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Models: Logistic Regression (ridge/L2), Random Forest (ranger), SVM (radial).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Nested feature selection: top-K by |t-statistic|, K in {20,50,100,200,500} — inside each training fold only.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Fold-aware normalisation; two external schemes: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target_z (transductive, batch-corrected)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train_stats (strictly non-transductive, leak-free)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Validation: within-cell-line LOOCV + leave-one-dataset-out external.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Within-Cell-Line LOOCV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87500"/>
            <a:ext cx="5461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Leave-one-out inside each cell line (5 train / 1 test per fold).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Preprocessing + feature selection recomputed per fold.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Accuracy 0.833 - 1.000  |  ROC-AUC 0.889 - 1.000.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Phenotypes are almost trivially separable within a cell line.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Likely optimistic: reflects within-study (batch) separation.</a:t>
            </a:r>
          </a:p>
        </p:txBody>
      </p:sp>
      <p:pic>
        <p:nvPicPr>
          <p:cNvPr id="9" name="Picture 8" descr="ROC_LOO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333500"/>
            <a:ext cx="5715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Cross-Dataset External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4610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Train on one cell line (6), predict the other (6).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target_z (batch-corrected):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SKOV3 -&gt; OVCAR5: AUC 1.0 at K = 20-50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OVCAR5 -&gt; SKOV3: AUC ~ 0.44 - 0.78 (near chance)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train_stats (leak-free, strict): mean ROC-AUC ~ 0.61.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Transfer is partial and strongly asymmetric; signal collapses as K grows (n &lt;&lt; p).</a:t>
            </a:r>
          </a:p>
        </p:txBody>
      </p:sp>
      <p:pic>
        <p:nvPicPr>
          <p:cNvPr id="9" name="Picture 8" descr="ROC_ex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333500"/>
            <a:ext cx="3628571" cy="2540000"/>
          </a:xfrm>
          <a:prstGeom prst="rect">
            <a:avLst/>
          </a:prstGeom>
        </p:spPr>
      </p:pic>
      <p:pic>
        <p:nvPicPr>
          <p:cNvPr id="10" name="Picture 9" descr="ROC_external_train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3537857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Candidate Biomarker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54610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Ranked by cross-dataset selection frequency across models x K.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Top candidates: MAL2, GALNT6, LDOC1, SH2D4A, FBXL21P,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05050"/>
                </a:solidFill>
                <a:latin typeface="Calibri"/>
              </a:rPr>
              <a:t>-  EPB41L3, TMEM218, CALB1, LINC02582, CELF2 ...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30-gene exploratory panel (biomarker_panel.csv).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Reflects the SKOV3-&gt;OVCAR5 direction; candidates for follow-up.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NOT a clinically validated diagnostic panel.</a:t>
            </a:r>
          </a:p>
        </p:txBody>
      </p:sp>
      <p:pic>
        <p:nvPicPr>
          <p:cNvPr id="9" name="Picture 8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270000"/>
            <a:ext cx="5714999" cy="36368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Interactive Results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87500"/>
            <a:ext cx="1066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•  </a:t>
            </a:r>
            <a:r>
              <a:rPr sz="1700" dirty="0" err="1">
                <a:solidFill>
                  <a:srgbClr val="404040"/>
                </a:solidFill>
                <a:latin typeface="Calibri"/>
              </a:rPr>
              <a:t>FastAPI</a:t>
            </a:r>
            <a:r>
              <a:rPr sz="1700" dirty="0">
                <a:solidFill>
                  <a:srgbClr val="404040"/>
                </a:solidFill>
                <a:latin typeface="Calibri"/>
              </a:rPr>
              <a:t> backend (backend/app.py) serving the ML artifacts as a read-only REST API.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•  Endpoints: /</a:t>
            </a:r>
            <a:r>
              <a:rPr sz="1700" dirty="0" err="1">
                <a:solidFill>
                  <a:srgbClr val="404040"/>
                </a:solidFill>
                <a:latin typeface="Calibri"/>
              </a:rPr>
              <a:t>api</a:t>
            </a:r>
            <a:r>
              <a:rPr sz="1700" dirty="0">
                <a:solidFill>
                  <a:srgbClr val="404040"/>
                </a:solidFill>
                <a:latin typeface="Calibri"/>
              </a:rPr>
              <a:t>/summary, /</a:t>
            </a:r>
            <a:r>
              <a:rPr sz="1700" dirty="0" err="1">
                <a:solidFill>
                  <a:srgbClr val="404040"/>
                </a:solidFill>
                <a:latin typeface="Calibri"/>
              </a:rPr>
              <a:t>api</a:t>
            </a:r>
            <a:r>
              <a:rPr sz="1700" dirty="0">
                <a:solidFill>
                  <a:srgbClr val="404040"/>
                </a:solidFill>
                <a:latin typeface="Calibri"/>
              </a:rPr>
              <a:t>/external, /</a:t>
            </a:r>
            <a:r>
              <a:rPr sz="1700" dirty="0" err="1">
                <a:solidFill>
                  <a:srgbClr val="404040"/>
                </a:solidFill>
                <a:latin typeface="Calibri"/>
              </a:rPr>
              <a:t>api</a:t>
            </a:r>
            <a:r>
              <a:rPr sz="1700" dirty="0">
                <a:solidFill>
                  <a:srgbClr val="404040"/>
                </a:solidFill>
                <a:latin typeface="Calibri"/>
              </a:rPr>
              <a:t>/metrics, /</a:t>
            </a:r>
            <a:r>
              <a:rPr sz="1700" dirty="0" err="1">
                <a:solidFill>
                  <a:srgbClr val="404040"/>
                </a:solidFill>
                <a:latin typeface="Calibri"/>
              </a:rPr>
              <a:t>api</a:t>
            </a:r>
            <a:r>
              <a:rPr sz="1700" dirty="0">
                <a:solidFill>
                  <a:srgbClr val="404040"/>
                </a:solidFill>
                <a:latin typeface="Calibri"/>
              </a:rPr>
              <a:t>/</a:t>
            </a:r>
            <a:r>
              <a:rPr sz="1700" dirty="0" err="1">
                <a:solidFill>
                  <a:srgbClr val="404040"/>
                </a:solidFill>
                <a:latin typeface="Calibri"/>
              </a:rPr>
              <a:t>loocv</a:t>
            </a:r>
            <a:r>
              <a:rPr sz="1700" dirty="0">
                <a:solidFill>
                  <a:srgbClr val="404040"/>
                </a:solidFill>
                <a:latin typeface="Calibri"/>
              </a:rPr>
              <a:t>,</a:t>
            </a: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505050"/>
                </a:solidFill>
                <a:latin typeface="Calibri"/>
              </a:rPr>
              <a:t>-  /</a:t>
            </a:r>
            <a:r>
              <a:rPr sz="1500" dirty="0" err="1">
                <a:solidFill>
                  <a:srgbClr val="505050"/>
                </a:solidFill>
                <a:latin typeface="Calibri"/>
              </a:rPr>
              <a:t>api</a:t>
            </a:r>
            <a:r>
              <a:rPr sz="1500" dirty="0">
                <a:solidFill>
                  <a:srgbClr val="505050"/>
                </a:solidFill>
                <a:latin typeface="Calibri"/>
              </a:rPr>
              <a:t>/predictions/external, /</a:t>
            </a:r>
            <a:r>
              <a:rPr sz="1500" dirty="0" err="1">
                <a:solidFill>
                  <a:srgbClr val="505050"/>
                </a:solidFill>
                <a:latin typeface="Calibri"/>
              </a:rPr>
              <a:t>api</a:t>
            </a:r>
            <a:r>
              <a:rPr sz="1500" dirty="0">
                <a:solidFill>
                  <a:srgbClr val="505050"/>
                </a:solidFill>
                <a:latin typeface="Calibri"/>
              </a:rPr>
              <a:t>/biomarkers, /</a:t>
            </a:r>
            <a:r>
              <a:rPr sz="1500" dirty="0" err="1">
                <a:solidFill>
                  <a:srgbClr val="505050"/>
                </a:solidFill>
                <a:latin typeface="Calibri"/>
              </a:rPr>
              <a:t>api</a:t>
            </a:r>
            <a:r>
              <a:rPr sz="1500" dirty="0">
                <a:solidFill>
                  <a:srgbClr val="505050"/>
                </a:solidFill>
                <a:latin typeface="Calibri"/>
              </a:rPr>
              <a:t>/feature-importance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•  Web dashboard with a </a:t>
            </a:r>
            <a:r>
              <a:rPr sz="1700" dirty="0" err="1">
                <a:solidFill>
                  <a:srgbClr val="404040"/>
                </a:solidFill>
                <a:latin typeface="Calibri"/>
              </a:rPr>
              <a:t>normalisation</a:t>
            </a:r>
            <a:r>
              <a:rPr sz="1700" dirty="0">
                <a:solidFill>
                  <a:srgbClr val="404040"/>
                </a:solidFill>
                <a:latin typeface="Calibri"/>
              </a:rPr>
              <a:t> toggle (</a:t>
            </a:r>
            <a:r>
              <a:rPr sz="1700" dirty="0" err="1">
                <a:solidFill>
                  <a:srgbClr val="404040"/>
                </a:solidFill>
                <a:latin typeface="Calibri"/>
              </a:rPr>
              <a:t>target_z</a:t>
            </a:r>
            <a:r>
              <a:rPr sz="1700" dirty="0">
                <a:solidFill>
                  <a:srgbClr val="404040"/>
                </a:solidFill>
                <a:latin typeface="Calibri"/>
              </a:rPr>
              <a:t> / </a:t>
            </a:r>
            <a:r>
              <a:rPr sz="1700" dirty="0" err="1">
                <a:solidFill>
                  <a:srgbClr val="404040"/>
                </a:solidFill>
                <a:latin typeface="Calibri"/>
              </a:rPr>
              <a:t>train_stats</a:t>
            </a:r>
            <a:r>
              <a:rPr sz="1700" dirty="0">
                <a:solidFill>
                  <a:srgbClr val="404040"/>
                </a:solidFill>
                <a:latin typeface="Calibri"/>
              </a:rPr>
              <a:t>),</a:t>
            </a: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505050"/>
                </a:solidFill>
                <a:latin typeface="Calibri"/>
              </a:rPr>
              <a:t>-  AUC-by-K chart, external metrics table and prediction explorer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•  Run:  python backend/app.py  -&gt;  http://127.0.0.1:8000/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24000"/>
            <a:ext cx="10668000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Extensive transcriptomic reprogramming: 5,212 DEGs (SKOV-3) and 2,572 (OVCAR5).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913 shared DEGs form a cross-dataset core cisplatin-resistance signature.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EMT and ECM remodelling are the dominant shared mechanism.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PI3K-Akt, focal adhesion, integrin and cadherin pathways converge on resistance.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ML separates phenotypes within a cell line; cross-dataset transfer is partial and asymmetric.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A 30-gene candidate panel (MAL2, GALNT6, ...) nominated for follow-up.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Limitations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87500"/>
            <a:ext cx="1066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Small sample size (n = 12; 6 per cell line) — exploratory, not clinical validation.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n &lt;&lt; p: large-K feature sets overfit; small K is required.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Cross-dataset normalisation choice materially changes external results.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Only the train_stats scheme is fully leak-free (mean AUC ~ 0.61).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Two datasets share cancer type/drug but differ in resistance mechanism.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1000" y="127000"/>
            <a:ext cx="11430000" cy="736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6502400"/>
            <a:ext cx="11430000" cy="12700"/>
          </a:xfrm>
          <a:prstGeom prst="rect">
            <a:avLst/>
          </a:prstGeom>
          <a:solidFill>
            <a:srgbClr val="D2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6515100"/>
            <a:ext cx="9144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28A96"/>
                </a:solidFill>
                <a:latin typeface="Calibri"/>
              </a:rPr>
              <a:t>Transcriptomic Profiling of Drug-Resistant Cancer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15100"/>
            <a:ext cx="508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28A96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24000"/>
            <a:ext cx="106680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404040"/>
                </a:solidFill>
                <a:latin typeface="Calibri"/>
              </a:rPr>
              <a:t>Conclusions: 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•  A reproducible end-to-end pipeline: GEO -&gt; DESeq2 -&gt; cross-validation -&gt; GO/KEGG -&gt; ML.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•  Defines a core cisplatin-resistance transcriptomic signature with clear EMT/ECM biology.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•  Provides an interactive dashboard and a candidate biomarker panel.</a:t>
            </a:r>
          </a:p>
          <a:p>
            <a:pPr>
              <a:spcAft>
                <a:spcPts val="600"/>
              </a:spcAft>
            </a:pPr>
            <a:r>
              <a:rPr sz="1700" dirty="0">
                <a:solidFill>
                  <a:srgbClr val="404040"/>
                </a:solidFill>
                <a:latin typeface="Calibri"/>
              </a:rPr>
              <a:t>Future work:</a:t>
            </a: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505050"/>
                </a:solidFill>
                <a:latin typeface="Calibri"/>
              </a:rPr>
              <a:t>-  Add independent datasets / more replicates to stabili</a:t>
            </a:r>
            <a:r>
              <a:rPr lang="en-US" sz="1500" dirty="0">
                <a:solidFill>
                  <a:srgbClr val="505050"/>
                </a:solidFill>
                <a:latin typeface="Calibri"/>
              </a:rPr>
              <a:t>z</a:t>
            </a:r>
            <a:r>
              <a:rPr sz="1500" dirty="0">
                <a:solidFill>
                  <a:srgbClr val="505050"/>
                </a:solidFill>
                <a:latin typeface="Calibri"/>
              </a:rPr>
              <a:t>e cross-dataset generali</a:t>
            </a:r>
            <a:r>
              <a:rPr lang="en-US" sz="1500" dirty="0">
                <a:solidFill>
                  <a:srgbClr val="505050"/>
                </a:solidFill>
                <a:latin typeface="Calibri"/>
              </a:rPr>
              <a:t>z</a:t>
            </a:r>
            <a:r>
              <a:rPr sz="1500" dirty="0">
                <a:solidFill>
                  <a:srgbClr val="505050"/>
                </a:solidFill>
                <a:latin typeface="Calibri"/>
              </a:rPr>
              <a:t>ation.</a:t>
            </a: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505050"/>
                </a:solidFill>
                <a:latin typeface="Calibri"/>
              </a:rPr>
              <a:t>-  Batch-correction benchmarking (</a:t>
            </a:r>
            <a:r>
              <a:rPr sz="1500" dirty="0" err="1">
                <a:solidFill>
                  <a:srgbClr val="505050"/>
                </a:solidFill>
                <a:latin typeface="Calibri"/>
              </a:rPr>
              <a:t>ComBat</a:t>
            </a:r>
            <a:r>
              <a:rPr sz="1500" dirty="0">
                <a:solidFill>
                  <a:srgbClr val="505050"/>
                </a:solidFill>
                <a:latin typeface="Calibri"/>
              </a:rPr>
              <a:t>, quantile) and pathway-level ML features.</a:t>
            </a: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505050"/>
                </a:solidFill>
                <a:latin typeface="Calibri"/>
              </a:rPr>
              <a:t>-  Experimental validation of MAL2, GALNT6, NDRG1 and the EMT axis.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83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E9CCA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1722</Words>
  <Application>Microsoft Office PowerPoint</Application>
  <PresentationFormat>Widescreen</PresentationFormat>
  <Paragraphs>210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NEHAL SOLANKI</cp:lastModifiedBy>
  <cp:revision>2</cp:revision>
  <dcterms:created xsi:type="dcterms:W3CDTF">2013-01-27T09:14:16Z</dcterms:created>
  <dcterms:modified xsi:type="dcterms:W3CDTF">2026-10-10T12:31:14Z</dcterms:modified>
  <cp:category/>
</cp:coreProperties>
</file>